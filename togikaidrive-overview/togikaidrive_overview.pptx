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7315200" cy="7315200"/>
          </a:xfrm>
          <a:prstGeom prst="ellipse">
            <a:avLst/>
          </a:prstGeom>
          <a:ln w="15240">
            <a:solidFill>
              <a:srgbClr val="3A4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645920"/>
            <a:ext cx="5852160" cy="5852160"/>
          </a:xfrm>
          <a:prstGeom prst="ellipse">
            <a:avLst/>
          </a:prstGeom>
          <a:ln w="15240">
            <a:solidFill>
              <a:srgbClr val="3A4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914400"/>
            <a:ext cx="4389120" cy="4389120"/>
          </a:xfrm>
          <a:prstGeom prst="ellipse">
            <a:avLst/>
          </a:prstGeom>
          <a:ln w="19050">
            <a:solidFill>
              <a:srgbClr val="FF4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MINICAR BATTLE 公式ベースプログラム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togikaidrive-dev とは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超音波センサ・LiDAR・カメラで自動運転するミニカーのベースプログラム解説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4160520"/>
            <a:ext cx="1828800" cy="1828800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2" y="4599432"/>
            <a:ext cx="950976" cy="9509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プログラムが分からない方のための入門資料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― 1枚で分かる全体像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全体の流れは、たった3ステップ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063240" cy="2743200"/>
          </a:xfrm>
          <a:prstGeom prst="roundRect">
            <a:avLst>
              <a:gd name="adj" fmla="val 4000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9AA5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217420"/>
            <a:ext cx="1051560" cy="1051560"/>
          </a:xfrm>
          <a:prstGeom prst="ellipse">
            <a:avLst/>
          </a:prstGeom>
          <a:solidFill>
            <a:srgbClr val="00B4C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4014" y="2469794"/>
            <a:ext cx="546811" cy="546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認知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77647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超音波・LiDAR・カメラで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周囲の状況を測る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794760" y="30175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251960" y="1965960"/>
            <a:ext cx="3063240" cy="2743200"/>
          </a:xfrm>
          <a:prstGeom prst="roundRect">
            <a:avLst>
              <a:gd name="adj" fmla="val 4000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9AA5B8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57800" y="2217420"/>
            <a:ext cx="1051560" cy="1051560"/>
          </a:xfrm>
          <a:prstGeom prst="ellipse">
            <a:avLst/>
          </a:prstGeom>
          <a:solidFill>
            <a:srgbClr val="FF4B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174" y="2469794"/>
            <a:ext cx="546811" cy="54681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3383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判断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34840" y="377647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480560" y="40690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得られた情報から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進む方向と速さを決める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360920" y="30175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7818120" y="1965960"/>
            <a:ext cx="3063240" cy="2743200"/>
          </a:xfrm>
          <a:prstGeom prst="roundRect">
            <a:avLst>
              <a:gd name="adj" fmla="val 4000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9AA5B8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823960" y="2217420"/>
            <a:ext cx="1051560" cy="1051560"/>
          </a:xfrm>
          <a:prstGeom prst="ellipse">
            <a:avLst/>
          </a:prstGeom>
          <a:solidFill>
            <a:srgbClr val="10131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334" y="2469794"/>
            <a:ext cx="546811" cy="54681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01000" y="3383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操作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001000" y="377647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046720" y="40690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決めた指示を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モーターとサーボに伝える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85800" y="5074920"/>
            <a:ext cx="10195560" cy="685800"/>
          </a:xfrm>
          <a:prstGeom prst="roundRect">
            <a:avLst>
              <a:gd name="adj" fmla="val 13333"/>
            </a:avLst>
          </a:prstGeom>
          <a:solidFill>
            <a:srgbClr val="10131A"/>
          </a:solidFill>
          <a:ln/>
        </p:spPr>
      </p:sp>
      <p:sp>
        <p:nvSpPr>
          <p:cNvPr id="25" name="Text 20"/>
          <p:cNvSpPr/>
          <p:nvPr/>
        </p:nvSpPr>
        <p:spPr>
          <a:xfrm>
            <a:off x="914400" y="507492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この3ステップを </a:t>
            </a:r>
            <a:pPr indent="0" marL="0">
              <a:buNone/>
            </a:pPr>
            <a:r>
              <a:rPr lang="en-US" sz="1300" b="1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1秒間に何度も</a:t>
            </a:r>
            <a:pPr indent="0" marL="0">
              <a:buNone/>
            </a:pPr>
            <a:r>
              <a:rPr lang="en-US" sz="13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繰り返すことで、ミニカーは自動で走り続ける（run.py のメインループ）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MAP ― どんなプログラムで出来ている？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主なプログラムとその役割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41368" y="1783080"/>
            <a:ext cx="3108960" cy="868680"/>
          </a:xfrm>
          <a:prstGeom prst="roundRect">
            <a:avLst>
              <a:gd name="adj" fmla="val 14737"/>
            </a:avLst>
          </a:prstGeom>
          <a:solidFill>
            <a:srgbClr val="10131A"/>
          </a:solidFill>
          <a:ln/>
          <a:effectLst>
            <a:outerShdw sx="100000" sy="100000" kx="0" ky="0" algn="bl" rotWithShape="0" blurRad="101600" dist="38100" dir="5400000">
              <a:srgbClr val="9AA5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24832" y="1933956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0894" y="207001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01488" y="1783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A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全体をまとめる指揮者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5848" y="2651760"/>
            <a:ext cx="0" cy="320040"/>
          </a:xfrm>
          <a:prstGeom prst="line">
            <a:avLst/>
          </a:prstGeom>
          <a:noFill/>
          <a:ln w="19050">
            <a:solidFill>
              <a:srgbClr val="C6CC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2308" y="324612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3F5FA"/>
          </a:solidFill>
          <a:ln/>
        </p:spPr>
      </p:sp>
      <p:sp>
        <p:nvSpPr>
          <p:cNvPr id="10" name="Shape 7"/>
          <p:cNvSpPr/>
          <p:nvPr/>
        </p:nvSpPr>
        <p:spPr>
          <a:xfrm>
            <a:off x="870052" y="3657600"/>
            <a:ext cx="658368" cy="658368"/>
          </a:xfrm>
          <a:prstGeom prst="ellipse">
            <a:avLst/>
          </a:prstGeom>
          <a:solidFill>
            <a:srgbClr val="EAEE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60" y="38156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38148" y="34107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config.py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38148" y="3995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― 走行モードや速度を決める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381348" y="324612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3F5FA"/>
          </a:solidFill>
          <a:ln/>
        </p:spPr>
      </p:sp>
      <p:sp>
        <p:nvSpPr>
          <p:cNvPr id="15" name="Shape 11"/>
          <p:cNvSpPr/>
          <p:nvPr/>
        </p:nvSpPr>
        <p:spPr>
          <a:xfrm>
            <a:off x="4619092" y="3657600"/>
            <a:ext cx="658368" cy="658368"/>
          </a:xfrm>
          <a:prstGeom prst="ellipse">
            <a:avLst/>
          </a:prstGeom>
          <a:solidFill>
            <a:srgbClr val="E4FA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100" y="381560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87188" y="34107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ultrasonic.py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camera.py / lidar.py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387188" y="3995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 ― センサーで周りを見る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130388" y="324612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3F5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368132" y="3657600"/>
            <a:ext cx="658368" cy="658368"/>
          </a:xfrm>
          <a:prstGeom prst="ellipse">
            <a:avLst/>
          </a:prstGeom>
          <a:solidFill>
            <a:srgbClr val="FFED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140" y="381560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6228" y="34107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planner.py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36228" y="3995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 ― 走り方のロジックを決める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32308" y="5001768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3F5FA"/>
          </a:solidFill>
          <a:ln/>
        </p:spPr>
      </p:sp>
      <p:sp>
        <p:nvSpPr>
          <p:cNvPr id="25" name="Shape 19"/>
          <p:cNvSpPr/>
          <p:nvPr/>
        </p:nvSpPr>
        <p:spPr>
          <a:xfrm>
            <a:off x="870052" y="5413248"/>
            <a:ext cx="658368" cy="658368"/>
          </a:xfrm>
          <a:prstGeom prst="ellipse">
            <a:avLst/>
          </a:prstGeom>
          <a:solidFill>
            <a:srgbClr val="EAEE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060" y="5571256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38148" y="5166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motor.py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38148" y="575157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 ― ステアリング・モーターへ出力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381348" y="5001768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3F5FA"/>
          </a:solidFill>
          <a:ln/>
        </p:spPr>
      </p:sp>
      <p:sp>
        <p:nvSpPr>
          <p:cNvPr id="30" name="Shape 23"/>
          <p:cNvSpPr/>
          <p:nvPr/>
        </p:nvSpPr>
        <p:spPr>
          <a:xfrm>
            <a:off x="4619092" y="5413248"/>
            <a:ext cx="658368" cy="658368"/>
          </a:xfrm>
          <a:prstGeom prst="ellipse">
            <a:avLst/>
          </a:prstGeom>
          <a:solidFill>
            <a:srgbClr val="E4FAF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100" y="5571256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87188" y="5166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train_pytorch.py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387188" y="575157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 ― 走行データからAIモデルを作る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8130388" y="5001768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3F5FA"/>
          </a:solidFill>
          <a:ln/>
        </p:spPr>
      </p:sp>
      <p:sp>
        <p:nvSpPr>
          <p:cNvPr id="35" name="Shape 27"/>
          <p:cNvSpPr/>
          <p:nvPr/>
        </p:nvSpPr>
        <p:spPr>
          <a:xfrm>
            <a:off x="8368132" y="5413248"/>
            <a:ext cx="658368" cy="658368"/>
          </a:xfrm>
          <a:prstGeom prst="ellipse">
            <a:avLst/>
          </a:prstGeom>
          <a:solidFill>
            <a:srgbClr val="FFEDE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6140" y="5571256"/>
            <a:ext cx="342351" cy="34235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136228" y="5166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data_viewer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(外部Webアプリ)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9136228" y="575157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 ― データの可視化・確認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 ― プログラムはこの順番で動く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実行フロー ― 複数プログラムの連携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013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 起動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6324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EAEEF6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読み込み（設定を反映）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91672" cy="2148840"/>
          </a:xfrm>
          <a:prstGeom prst="roundRect">
            <a:avLst>
              <a:gd name="adj" fmla="val 5957"/>
            </a:avLst>
          </a:prstGeom>
          <a:solidFill>
            <a:srgbClr val="F3F5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488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メインループ（1秒間に何度も繰り返す）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E4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62432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センサー取得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2935224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ultrasonic.py / camera.py / lidar.py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246120" y="25146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20440" y="251460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FFEDE9"/>
          </a:solidFill>
          <a:ln/>
        </p:spPr>
      </p:sp>
      <p:sp>
        <p:nvSpPr>
          <p:cNvPr id="16" name="Text 14"/>
          <p:cNvSpPr/>
          <p:nvPr/>
        </p:nvSpPr>
        <p:spPr>
          <a:xfrm>
            <a:off x="3630168" y="262432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planner.py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30168" y="2935224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判断（steering, throttle決定）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943600" y="25146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251460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EAEEF6"/>
          </a:solidFill>
          <a:ln/>
        </p:spPr>
      </p:sp>
      <p:sp>
        <p:nvSpPr>
          <p:cNvPr id="20" name="Text 18"/>
          <p:cNvSpPr/>
          <p:nvPr/>
        </p:nvSpPr>
        <p:spPr>
          <a:xfrm>
            <a:off x="6327648" y="262432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motor.py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27648" y="2935224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操作（PWM出力）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641080" y="25146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915400" y="251460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25128" y="262432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記録（任意）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025128" y="2935224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record_manager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0126980" y="3291840"/>
            <a:ext cx="0" cy="32004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34540" y="3611880"/>
            <a:ext cx="8092440" cy="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34540" y="3291840"/>
            <a:ext cx="0" cy="32004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97380" y="31912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52060" y="34747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05206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くり返す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学習ループ（オフライン・任意）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84632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EAEEF6"/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" y="48463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記録データ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46120" y="48463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520440" y="484632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E4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3630168" y="48463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data_viewer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30168" y="519379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で確認・整理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48463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217920" y="484632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FEDE9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48463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train_pytorch.py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27648" y="519379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で学習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641080" y="48463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915400" y="484632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10131A"/>
          </a:solidFill>
          <a:ln/>
        </p:spPr>
      </p:sp>
      <p:sp>
        <p:nvSpPr>
          <p:cNvPr id="45" name="Text 43"/>
          <p:cNvSpPr/>
          <p:nvPr/>
        </p:nvSpPr>
        <p:spPr>
          <a:xfrm>
            <a:off x="9025128" y="48463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学習済みモデル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 flipH="1">
            <a:off x="2034540" y="4160520"/>
            <a:ext cx="8092440" cy="685800"/>
          </a:xfrm>
          <a:prstGeom prst="line">
            <a:avLst/>
          </a:prstGeom>
          <a:noFill/>
          <a:ln w="19050">
            <a:solidFill>
              <a:srgbClr val="3A4A6B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51660" y="47091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32020" y="3291840"/>
            <a:ext cx="5394960" cy="1554480"/>
          </a:xfrm>
          <a:prstGeom prst="line">
            <a:avLst/>
          </a:prstGeom>
          <a:noFill/>
          <a:ln w="19050">
            <a:solidFill>
              <a:srgbClr val="00B4C6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4594860" y="31546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10131A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" y="580644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記録したデータは学習ループへ、学習済みモデルは planner.py の推論(自動走行時)へ ― どちらも任意で、手動運転だけでも走行可能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RUN.PY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run.py ― 全体を動かす指揮者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run.py 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を実行すると起動する、走行時のメインプログラム。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認知・判断・操作・記録の4つの処理を、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電源が切れるまでひたすら繰り返す。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4937760" cy="1691640"/>
          </a:xfrm>
          <a:prstGeom prst="roundRect">
            <a:avLst>
              <a:gd name="adj" fmla="val 5405"/>
            </a:avLst>
          </a:prstGeom>
          <a:solidFill>
            <a:srgbClr val="1013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61188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認知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sensor_data = data_aggregator.update_sensors()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判断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steering, throttle = planner_instance.planning_seaquence(...)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操作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motor_instance.set_steering_pwm_value(steering)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5230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 run.py 中のコメント表記（簡略化）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91072" y="1828800"/>
            <a:ext cx="0" cy="3694176"/>
          </a:xfrm>
          <a:prstGeom prst="line">
            <a:avLst/>
          </a:prstGeom>
          <a:noFill/>
          <a:ln w="25400">
            <a:solidFill>
              <a:srgbClr val="D6D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1691640"/>
            <a:ext cx="512064" cy="512064"/>
          </a:xfrm>
          <a:prstGeom prst="ellipse">
            <a:avLst/>
          </a:prstGeom>
          <a:solidFill>
            <a:srgbClr val="FF4B2B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16367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センサー値を取得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19842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超音波/LiDAR/カメラ、コントローラーの状態を読む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2770632"/>
            <a:ext cx="512064" cy="512064"/>
          </a:xfrm>
          <a:prstGeom prst="ellipse">
            <a:avLst/>
          </a:prstGeom>
          <a:solidFill>
            <a:srgbClr val="FF4B2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770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715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steering・throttle を決定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30632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手動モードなら人間の入力、自動モードなら planner.py が計算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3849624"/>
            <a:ext cx="512064" cy="512064"/>
          </a:xfrm>
          <a:prstGeom prst="ellipse">
            <a:avLst/>
          </a:prstGeom>
          <a:solidFill>
            <a:srgbClr val="FF4B2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38496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モーターへ出力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41422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motor.py 経由でPWM信号としてサーボ・ESCへ送る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0" y="4928616"/>
            <a:ext cx="512064" cy="51206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4928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48737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データを記録（任意）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66560" y="522122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記録中なら画像・センサー値・操作値を保存し学習に使う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0" y="5989320"/>
            <a:ext cx="5605272" cy="502920"/>
          </a:xfrm>
          <a:prstGeom prst="roundRect">
            <a:avLst>
              <a:gd name="adj" fmla="val 14545"/>
            </a:avLst>
          </a:prstGeom>
          <a:solidFill>
            <a:srgbClr val="F3F5F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5989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コントローラーのSボタンで「手動 → 自動ステアリングのみ → 完全自動」を切替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CONFIG.PY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config.py ― 挙動を決める設定書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プログラムのコードを書き換えなくても、この1ファイルを編集するだけで走行モードや速度、使うセンサーを変更できる。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EAEE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config_default.py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デフォルト設定（原本・編集しない）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0" y="23317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自動コピー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3317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FFEDE9"/>
          </a:solidFill>
          <a:ln/>
        </p:spPr>
      </p:sp>
      <p:sp>
        <p:nvSpPr>
          <p:cNvPr id="9" name="Text 7"/>
          <p:cNvSpPr/>
          <p:nvPr/>
        </p:nvSpPr>
        <p:spPr>
          <a:xfrm>
            <a:off x="5532120" y="2331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個人設定（自由に編集OK・git管理外）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0" y="23317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削除すれば config_default.py から再生成される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主な設定項目（抜粋）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8138160" cy="196596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32918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値の例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31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4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走行モード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"right_left_3" / "donkeycar" / "nn" など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4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ACTIVE_SENSORS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使うセンサー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["ultrasonic"] / ["lidar","camera_0"] など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4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FORWARD_STRAIGHT / CORNER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直線用 0.4 ／ カーブ用 0.3（0〜1）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4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MODEL_NAME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学習済みモデル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自動走行で読み込むファイル名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915400" y="3520440"/>
            <a:ext cx="2724912" cy="2331720"/>
          </a:xfrm>
          <a:prstGeom prst="roundRect">
            <a:avLst>
              <a:gd name="adj" fmla="val 3922"/>
            </a:avLst>
          </a:prstGeom>
          <a:solidFill>
            <a:srgbClr val="F3F5FA"/>
          </a:solidFill>
          <a:ln/>
        </p:spPr>
      </p:sp>
      <p:sp>
        <p:nvSpPr>
          <p:cNvPr id="14" name="Text 11"/>
          <p:cNvSpPr/>
          <p:nvPr/>
        </p:nvSpPr>
        <p:spPr>
          <a:xfrm>
            <a:off x="9098280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走行モード一覧（抜粋）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98280" y="3950208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manual（手動）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right_left_3（回避）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wall_follow_pid（壁沿い）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nn（NN推論）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donkeycar（CNN）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ULTRASONIC.PY・CAMERA.PY・LIDAR.PY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認知 ― センサーで周りを見る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超音波・LiDARは「ToF（Time of Flight）方式」で、波を発射して反射が戻るまでの時間から距離を計算する。カメラは光を捉えて画像として周囲を記録する。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2308" y="23317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F5FA"/>
          </a:solidFill>
          <a:ln/>
        </p:spPr>
      </p:sp>
      <p:sp>
        <p:nvSpPr>
          <p:cNvPr id="6" name="Shape 4"/>
          <p:cNvSpPr/>
          <p:nvPr/>
        </p:nvSpPr>
        <p:spPr>
          <a:xfrm>
            <a:off x="1889608" y="2560320"/>
            <a:ext cx="914400" cy="914400"/>
          </a:xfrm>
          <a:prstGeom prst="ellipse">
            <a:avLst/>
          </a:prstGeom>
          <a:solidFill>
            <a:srgbClr val="E4FA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064" y="277977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5188" y="3566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超音波センサー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15188" y="3867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ultrasonic.py（HC-SR04）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06628" y="42976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検知角度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141068" y="42976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約15度（片側）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06628" y="4663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検知距離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141068" y="46634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2cm〜400cm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06628" y="5029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141068" y="50292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±3mm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06628" y="53949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141068" y="5394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安価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81348" y="23317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F5FA"/>
          </a:solidFill>
          <a:ln/>
        </p:spPr>
      </p:sp>
      <p:sp>
        <p:nvSpPr>
          <p:cNvPr id="19" name="Shape 16"/>
          <p:cNvSpPr/>
          <p:nvPr/>
        </p:nvSpPr>
        <p:spPr>
          <a:xfrm>
            <a:off x="5638648" y="2560320"/>
            <a:ext cx="914400" cy="914400"/>
          </a:xfrm>
          <a:prstGeom prst="ellipse">
            <a:avLst/>
          </a:prstGeom>
          <a:solidFill>
            <a:srgbClr val="FFEDE9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104" y="2779776"/>
            <a:ext cx="475488" cy="47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64228" y="3566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4564228" y="3867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lidar.py（YDLIDAR等）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655668" y="42976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検知角度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890108" y="42976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270〜360度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655668" y="4663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検知距離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890108" y="46634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2cm〜12m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655668" y="5029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890108" y="50292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数mm〜数cm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655668" y="53949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890108" y="5394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高価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130388" y="23317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F5FA"/>
          </a:solidFill>
          <a:ln/>
        </p:spPr>
      </p:sp>
      <p:sp>
        <p:nvSpPr>
          <p:cNvPr id="32" name="Shape 28"/>
          <p:cNvSpPr/>
          <p:nvPr/>
        </p:nvSpPr>
        <p:spPr>
          <a:xfrm>
            <a:off x="9387688" y="2560320"/>
            <a:ext cx="914400" cy="914400"/>
          </a:xfrm>
          <a:prstGeom prst="ellipse">
            <a:avLst/>
          </a:prstGeom>
          <a:solidFill>
            <a:srgbClr val="EAEEF6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144" y="2779776"/>
            <a:ext cx="475488" cy="47548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313268" y="3566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カメラ</a:t>
            </a:r>
            <a:endParaRPr lang="en-US" sz="1550" dirty="0"/>
          </a:p>
        </p:txBody>
      </p:sp>
      <p:sp>
        <p:nvSpPr>
          <p:cNvPr id="35" name="Text 30"/>
          <p:cNvSpPr/>
          <p:nvPr/>
        </p:nvSpPr>
        <p:spPr>
          <a:xfrm>
            <a:off x="8313268" y="3867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camera.py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404708" y="42976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取得情報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9639148" y="42976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色・形・テクスチャ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8404708" y="4663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9639148" y="46634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AI画像認識・物体検知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8404708" y="5029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環境依存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9639148" y="50292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照明に依存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8404708" y="53949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9639148" y="5394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やや高価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PLANNER.PY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planner.py ― 走り方を決める頭脳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認知で得たセンサー値をもとに、ステアリングとスロットルを決める。判断方式は大きく2種類。出力は常に -1〜1 の統一形式。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EAEE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50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ルールベース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「こういう時はこうする」を人間が明示的に書く方式。right_left_3・wall_follow・wall_follow_pid など。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動作が明確・少ないデータで動く　× 複雑な状況に弱い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EDE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793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ニューラルネットワーク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6451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人間の運転データを学習し、AIが判断する方式。nn（センサー値）・donkeycar / resnet18（カメラ画像）など。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2303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複雑なパターンに対応　× 大量の学習データが必要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例：right_left_3（3センサー障害物回避）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10131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743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前方センサー値を取得（左前・正面・右前）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32644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356616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EAEE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566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いずれかが検知距離より近い？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40873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26480" y="43891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4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4389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左右どちらが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より開けている？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06840" y="43891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EDE9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4389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障害物なし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そのまま直進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52303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6480" y="553212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FF4B2B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5532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開けている側へ旋回 → steering 出力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MOTOR.PY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motor.py ― 命令を実際の動きに変える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planner.py が決めた「-1〜1の指示値」を、サーボ・ESCが理解できる「PWM信号」に変換して物理的に車を動かす。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PWM信号の仕組み（パルス幅で角度・速度を指定）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5120640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43200"/>
            <a:ext cx="0" cy="64008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43200"/>
            <a:ext cx="502920" cy="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743200"/>
            <a:ext cx="0" cy="64008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56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短い＝左最大 / 後退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2743200"/>
            <a:ext cx="0" cy="64008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743200"/>
            <a:ext cx="777240" cy="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743200"/>
            <a:ext cx="0" cy="64008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3456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中間＝中央 / 停止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743200"/>
            <a:ext cx="0" cy="64008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743200"/>
            <a:ext cx="1051560" cy="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2743200"/>
            <a:ext cx="0" cy="640080"/>
          </a:xfrm>
          <a:prstGeom prst="line">
            <a:avLst/>
          </a:prstGeom>
          <a:noFill/>
          <a:ln w="25400">
            <a:solidFill>
              <a:srgbClr val="FF4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3456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長い＝右最大 / 前進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正規化値 → PWM値の対応（例：中央370, 幅80）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5120640" cy="123444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</a:tblGrid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ステアリング指示値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31A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-1.0（左最大）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4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0.0（直進）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4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+1.0（右最大）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4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126480" y="224028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3F5FA"/>
          </a:solidFill>
          <a:ln/>
        </p:spPr>
      </p:sp>
      <p:sp>
        <p:nvSpPr>
          <p:cNvPr id="22" name="Text 19"/>
          <p:cNvSpPr/>
          <p:nvPr/>
        </p:nvSpPr>
        <p:spPr>
          <a:xfrm>
            <a:off x="635508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ハードウェアの流れ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0" y="288036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/ Jetson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0" y="37490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PCA9685（PWMコントローラ・I2C接続）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080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0" y="461772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ステアリングサーボ ／ ESC（モーター）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PCA9685が正確なPWM信号を専用ハードウェアで生成するため、CPUの負荷を増やさず安定して動かせる。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TRAIN_PYTORCH.PY・DATA_VIEWER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train_pytorch.py ― 運転を学習する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AIに運転を学習させるための一連の流れ。ルールベースでは対応しきれない状況にも対応できるようになる。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6588" y="23774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3F5FA"/>
          </a:solidFill>
          <a:ln/>
        </p:spPr>
      </p:sp>
      <p:sp>
        <p:nvSpPr>
          <p:cNvPr id="6" name="Shape 4"/>
          <p:cNvSpPr/>
          <p:nvPr/>
        </p:nvSpPr>
        <p:spPr>
          <a:xfrm>
            <a:off x="723748" y="2514600"/>
            <a:ext cx="365760" cy="365760"/>
          </a:xfrm>
          <a:prstGeom prst="ellipse">
            <a:avLst/>
          </a:prstGeom>
          <a:solidFill>
            <a:srgbClr val="FF4B2B"/>
          </a:solidFill>
          <a:ln/>
        </p:spPr>
      </p:sp>
      <p:sp>
        <p:nvSpPr>
          <p:cNvPr id="7" name="Text 5"/>
          <p:cNvSpPr/>
          <p:nvPr/>
        </p:nvSpPr>
        <p:spPr>
          <a:xfrm>
            <a:off x="72374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09548" y="2994660"/>
            <a:ext cx="868680" cy="868680"/>
          </a:xfrm>
          <a:prstGeom prst="ellipse">
            <a:avLst/>
          </a:prstGeom>
          <a:solidFill>
            <a:srgbClr val="E4FA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031" y="3203143"/>
            <a:ext cx="451714" cy="4517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9468" y="3977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手動走行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9468" y="43159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人がコントローラーで操作し、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センサー値・画像・操作値を記録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19476" y="35204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421228" y="23774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3F5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558388" y="2514600"/>
            <a:ext cx="365760" cy="365760"/>
          </a:xfrm>
          <a:prstGeom prst="ellipse">
            <a:avLst/>
          </a:prstGeom>
          <a:solidFill>
            <a:srgbClr val="FF4B2B"/>
          </a:solidFill>
          <a:ln/>
        </p:spPr>
      </p:sp>
      <p:sp>
        <p:nvSpPr>
          <p:cNvPr id="15" name="Text 12"/>
          <p:cNvSpPr/>
          <p:nvPr/>
        </p:nvSpPr>
        <p:spPr>
          <a:xfrm>
            <a:off x="355838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44188" y="2994660"/>
            <a:ext cx="868680" cy="868680"/>
          </a:xfrm>
          <a:prstGeom prst="ellipse">
            <a:avLst/>
          </a:prstGeom>
          <a:solidFill>
            <a:srgbClr val="EAEEF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671" y="3203143"/>
            <a:ext cx="451714" cy="45171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04108" y="3977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データ確認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604108" y="43159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data_viewer（Webアプリ）で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収集データを確認・クレンジング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954116" y="35204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255868" y="23774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3F5FA"/>
          </a:solidFill>
          <a:ln/>
        </p:spPr>
      </p:sp>
      <p:sp>
        <p:nvSpPr>
          <p:cNvPr id="22" name="Shape 18"/>
          <p:cNvSpPr/>
          <p:nvPr/>
        </p:nvSpPr>
        <p:spPr>
          <a:xfrm>
            <a:off x="6393028" y="2514600"/>
            <a:ext cx="365760" cy="365760"/>
          </a:xfrm>
          <a:prstGeom prst="ellipse">
            <a:avLst/>
          </a:prstGeom>
          <a:solidFill>
            <a:srgbClr val="FF4B2B"/>
          </a:solidFill>
          <a:ln/>
        </p:spPr>
      </p:sp>
      <p:sp>
        <p:nvSpPr>
          <p:cNvPr id="23" name="Text 19"/>
          <p:cNvSpPr/>
          <p:nvPr/>
        </p:nvSpPr>
        <p:spPr>
          <a:xfrm>
            <a:off x="639302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078828" y="2994660"/>
            <a:ext cx="868680" cy="868680"/>
          </a:xfrm>
          <a:prstGeom prst="ellipse">
            <a:avLst/>
          </a:prstGeom>
          <a:solidFill>
            <a:srgbClr val="FFEDE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311" y="3203143"/>
            <a:ext cx="451714" cy="45171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38748" y="3977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学習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438748" y="43159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train_pytorch.py で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ニューラルネットを学習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788756" y="35204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9090508" y="23774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3F5FA"/>
          </a:solidFill>
          <a:ln/>
        </p:spPr>
      </p:sp>
      <p:sp>
        <p:nvSpPr>
          <p:cNvPr id="30" name="Shape 25"/>
          <p:cNvSpPr/>
          <p:nvPr/>
        </p:nvSpPr>
        <p:spPr>
          <a:xfrm>
            <a:off x="9227668" y="2514600"/>
            <a:ext cx="365760" cy="365760"/>
          </a:xfrm>
          <a:prstGeom prst="ellipse">
            <a:avLst/>
          </a:prstGeom>
          <a:solidFill>
            <a:srgbClr val="FF4B2B"/>
          </a:solidFill>
          <a:ln/>
        </p:spPr>
      </p:sp>
      <p:sp>
        <p:nvSpPr>
          <p:cNvPr id="31" name="Text 26"/>
          <p:cNvSpPr/>
          <p:nvPr/>
        </p:nvSpPr>
        <p:spPr>
          <a:xfrm>
            <a:off x="922766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9913468" y="2994660"/>
            <a:ext cx="868680" cy="868680"/>
          </a:xfrm>
          <a:prstGeom prst="ellipse">
            <a:avLst/>
          </a:prstGeom>
          <a:solidFill>
            <a:srgbClr val="E4FAFC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951" y="3203143"/>
            <a:ext cx="451714" cy="45171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73388" y="3977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自動走行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9273388" y="43159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学習済みモデルを使って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自動運転（donkeycar等）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586588" y="5486400"/>
            <a:ext cx="11018520" cy="502920"/>
          </a:xfrm>
          <a:prstGeom prst="roundRect">
            <a:avLst>
              <a:gd name="adj" fmla="val 14545"/>
            </a:avLst>
          </a:prstGeom>
          <a:solidFill>
            <a:srgbClr val="10131A"/>
          </a:solidFill>
          <a:ln/>
        </p:spPr>
      </p:sp>
      <p:sp>
        <p:nvSpPr>
          <p:cNvPr id="37" name="Text 31"/>
          <p:cNvSpPr/>
          <p:nvPr/>
        </p:nvSpPr>
        <p:spPr>
          <a:xfrm>
            <a:off x="815188" y="5486400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カメラ画像を使うモデル（donkeycar / resnet18等）の学習には annotation_training_d2j との連携が必要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6400800" cy="6400800"/>
          </a:xfrm>
          <a:prstGeom prst="ellipse">
            <a:avLst/>
          </a:prstGeom>
          <a:ln w="15240">
            <a:solidFill>
              <a:srgbClr val="3A4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 ― なぜこの設計なのか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92328" y="187452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1F2A44"/>
          </a:solidFill>
          <a:ln/>
        </p:spPr>
      </p:sp>
      <p:sp>
        <p:nvSpPr>
          <p:cNvPr id="6" name="Shape 4"/>
          <p:cNvSpPr/>
          <p:nvPr/>
        </p:nvSpPr>
        <p:spPr>
          <a:xfrm>
            <a:off x="1135228" y="2331720"/>
            <a:ext cx="777240" cy="777240"/>
          </a:xfrm>
          <a:prstGeom prst="ellipse">
            <a:avLst/>
          </a:prstGeom>
          <a:solidFill>
            <a:srgbClr val="1013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765" y="25182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72488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役割がはっきり分離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72488" y="24963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認知(センサー)・判断(planner)・操作(motor)が独立しているので、どこを直せばいいか分かりやすい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1F2A44"/>
          </a:solidFill>
          <a:ln/>
        </p:spPr>
      </p:sp>
      <p:sp>
        <p:nvSpPr>
          <p:cNvPr id="11" name="Shape 8"/>
          <p:cNvSpPr/>
          <p:nvPr/>
        </p:nvSpPr>
        <p:spPr>
          <a:xfrm>
            <a:off x="6621628" y="2331720"/>
            <a:ext cx="777240" cy="777240"/>
          </a:xfrm>
          <a:prstGeom prst="ellipse">
            <a:avLst/>
          </a:prstGeom>
          <a:solidFill>
            <a:srgbClr val="1013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165" y="251825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58888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config.py だけ触ればいい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558888" y="24963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プログラムを書けなくても、速度やモード選びは設定ファイルの数値・文字を変えるだけで調整できる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2328" y="388620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1F2A44"/>
          </a:solidFill>
          <a:ln/>
        </p:spPr>
      </p:sp>
      <p:sp>
        <p:nvSpPr>
          <p:cNvPr id="16" name="Shape 12"/>
          <p:cNvSpPr/>
          <p:nvPr/>
        </p:nvSpPr>
        <p:spPr>
          <a:xfrm>
            <a:off x="1135228" y="4343400"/>
            <a:ext cx="777240" cy="777240"/>
          </a:xfrm>
          <a:prstGeom prst="ellipse">
            <a:avLst/>
          </a:prstGeom>
          <a:solidFill>
            <a:srgbClr val="1013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765" y="452993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72488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ルールからAIまで選べる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2072488" y="45079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シンプルなルールベースから、学習させたニューラルネットまで、走行モードを切り替えて試せる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78728" y="388620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1F2A44"/>
          </a:solidFill>
          <a:ln/>
        </p:spPr>
      </p:sp>
      <p:sp>
        <p:nvSpPr>
          <p:cNvPr id="21" name="Shape 16"/>
          <p:cNvSpPr/>
          <p:nvPr/>
        </p:nvSpPr>
        <p:spPr>
          <a:xfrm>
            <a:off x="6621628" y="4343400"/>
            <a:ext cx="777240" cy="777240"/>
          </a:xfrm>
          <a:prstGeom prst="ellipse">
            <a:avLst/>
          </a:prstGeom>
          <a:solidFill>
            <a:srgbClr val="1013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165" y="4529938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58888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段階的に慣れていける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558888" y="45079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ultrasonic.py → motor.py → run.py の順にクイックスタートで動作確認しながら理解できる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792328" y="5715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次の一歩：  </a:t>
            </a:r>
            <a:pPr indent="0" marL="0">
              <a:buNone/>
            </a:pPr>
            <a:r>
              <a:rPr lang="en-US" sz="12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ultrasonic.py → python motor.py → python run.py の順に動かして、自分のミニカーで体験してみよう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2026-08-18T13:29:23Z</dcterms:created>
  <dcterms:modified xsi:type="dcterms:W3CDTF">2026-08-18T13:29:23Z</dcterms:modified>
</cp:coreProperties>
</file>