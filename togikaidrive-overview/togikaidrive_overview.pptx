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7315200" cy="7315200"/>
          </a:xfrm>
          <a:prstGeom prst="ellipse">
            <a:avLst/>
          </a:prstGeom>
          <a:ln w="15240">
            <a:solidFill>
              <a:srgbClr val="3A4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-1645920"/>
            <a:ext cx="5852160" cy="5852160"/>
          </a:xfrm>
          <a:prstGeom prst="ellipse">
            <a:avLst/>
          </a:prstGeom>
          <a:ln w="15240">
            <a:solidFill>
              <a:srgbClr val="3A4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0" y="-914400"/>
            <a:ext cx="4389120" cy="4389120"/>
          </a:xfrm>
          <a:prstGeom prst="ellipse">
            <a:avLst/>
          </a:prstGeom>
          <a:ln w="19050">
            <a:solidFill>
              <a:srgbClr val="FF4B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MINICAR BATTLE 公式ベースプログラム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togikaidrive-dev とは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37947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超音波センサ・LiDAR・カメラで自動運転するミニカーのベースプログラム解説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0" y="4160520"/>
            <a:ext cx="1828800" cy="1828800"/>
          </a:xfrm>
          <a:prstGeom prst="ellipse">
            <a:avLst/>
          </a:prstGeom>
          <a:solidFill>
            <a:srgbClr val="1F2A4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2" y="4599432"/>
            <a:ext cx="950976" cy="9509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プログラムが分からない方のための入門資料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― 1枚で分かる全体像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全体の流れは、たった3ステップ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3063240" cy="2743200"/>
          </a:xfrm>
          <a:prstGeom prst="roundRect">
            <a:avLst>
              <a:gd name="adj" fmla="val 4000"/>
            </a:avLst>
          </a:prstGeom>
          <a:solidFill>
            <a:srgbClr val="F3F5FA"/>
          </a:solidFill>
          <a:ln/>
          <a:effectLst>
            <a:outerShdw sx="100000" sy="100000" kx="0" ky="0" algn="bl" rotWithShape="0" blurRad="101600" dist="38100" dir="5400000">
              <a:srgbClr val="9AA5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91640" y="2217420"/>
            <a:ext cx="1051560" cy="1051560"/>
          </a:xfrm>
          <a:prstGeom prst="ellipse">
            <a:avLst/>
          </a:prstGeom>
          <a:solidFill>
            <a:srgbClr val="00B4C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014" y="2469794"/>
            <a:ext cx="546811" cy="54681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33832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  認知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68680" y="3776472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14400" y="40690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超音波・LiDAR・カメラで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周囲の状況を測る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3794760" y="301752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4251960" y="1965960"/>
            <a:ext cx="3063240" cy="2743200"/>
          </a:xfrm>
          <a:prstGeom prst="roundRect">
            <a:avLst>
              <a:gd name="adj" fmla="val 4000"/>
            </a:avLst>
          </a:prstGeom>
          <a:solidFill>
            <a:srgbClr val="F3F5FA"/>
          </a:solidFill>
          <a:ln/>
          <a:effectLst>
            <a:outerShdw sx="100000" sy="100000" kx="0" ky="0" algn="bl" rotWithShape="0" blurRad="101600" dist="38100" dir="5400000">
              <a:srgbClr val="9AA5B8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257800" y="2217420"/>
            <a:ext cx="1051560" cy="1051560"/>
          </a:xfrm>
          <a:prstGeom prst="ellipse">
            <a:avLst/>
          </a:prstGeom>
          <a:solidFill>
            <a:srgbClr val="FF4B2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174" y="2469794"/>
            <a:ext cx="546811" cy="54681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34840" y="33832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 判断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34840" y="3776472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480560" y="40690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得られた情報から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進む方向と速さを決める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360920" y="301752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Shape 14"/>
          <p:cNvSpPr/>
          <p:nvPr/>
        </p:nvSpPr>
        <p:spPr>
          <a:xfrm>
            <a:off x="7818120" y="1965960"/>
            <a:ext cx="3063240" cy="2743200"/>
          </a:xfrm>
          <a:prstGeom prst="roundRect">
            <a:avLst>
              <a:gd name="adj" fmla="val 4000"/>
            </a:avLst>
          </a:prstGeom>
          <a:solidFill>
            <a:srgbClr val="F3F5FA"/>
          </a:solidFill>
          <a:ln/>
          <a:effectLst>
            <a:outerShdw sx="100000" sy="100000" kx="0" ky="0" algn="bl" rotWithShape="0" blurRad="101600" dist="38100" dir="5400000">
              <a:srgbClr val="9AA5B8">
                <a:alpha val="3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823960" y="2217420"/>
            <a:ext cx="1051560" cy="1051560"/>
          </a:xfrm>
          <a:prstGeom prst="ellipse">
            <a:avLst/>
          </a:prstGeom>
          <a:solidFill>
            <a:srgbClr val="10131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6334" y="2469794"/>
            <a:ext cx="546811" cy="546811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001000" y="33832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 操作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8001000" y="3776472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8046720" y="40690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決めた指示を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モーターとサーボに伝える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685800" y="5074920"/>
            <a:ext cx="10195560" cy="685800"/>
          </a:xfrm>
          <a:prstGeom prst="roundRect">
            <a:avLst>
              <a:gd name="adj" fmla="val 13333"/>
            </a:avLst>
          </a:prstGeom>
          <a:solidFill>
            <a:srgbClr val="10131A"/>
          </a:solidFill>
          <a:ln/>
        </p:spPr>
      </p:sp>
      <p:sp>
        <p:nvSpPr>
          <p:cNvPr id="25" name="Text 20"/>
          <p:cNvSpPr/>
          <p:nvPr/>
        </p:nvSpPr>
        <p:spPr>
          <a:xfrm>
            <a:off x="914400" y="5074920"/>
            <a:ext cx="978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この3ステップを </a:t>
            </a:r>
            <a:pPr indent="0" marL="0">
              <a:buNone/>
            </a:pPr>
            <a:r>
              <a:rPr lang="en-US" sz="1300" b="1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1秒間に何度も</a:t>
            </a:r>
            <a:pPr indent="0" marL="0">
              <a:buNone/>
            </a:pPr>
            <a:r>
              <a:rPr lang="en-US" sz="1300" dirty="0">
                <a:solidFill>
                  <a:srgbClr val="C7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繰り返すことで、ミニカーは自動で走り続ける（run.py のメインループ）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MAP ― どんなプログラムで出来ている？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主なプログラムとその役割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41368" y="1783080"/>
            <a:ext cx="3108960" cy="868680"/>
          </a:xfrm>
          <a:prstGeom prst="roundRect">
            <a:avLst>
              <a:gd name="adj" fmla="val 14737"/>
            </a:avLst>
          </a:prstGeom>
          <a:solidFill>
            <a:srgbClr val="10131A"/>
          </a:solidFill>
          <a:ln/>
          <a:effectLst>
            <a:outerShdw sx="100000" sy="100000" kx="0" ky="0" algn="bl" rotWithShape="0" blurRad="101600" dist="38100" dir="5400000">
              <a:srgbClr val="9AA5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824832" y="1933956"/>
            <a:ext cx="566928" cy="566928"/>
          </a:xfrm>
          <a:prstGeom prst="ellipse">
            <a:avLst/>
          </a:prstGeom>
          <a:solidFill>
            <a:srgbClr val="1F2A4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0894" y="2070019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501488" y="17830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AB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全体をまとめる指揮者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095848" y="2651760"/>
            <a:ext cx="0" cy="320040"/>
          </a:xfrm>
          <a:prstGeom prst="line">
            <a:avLst/>
          </a:prstGeom>
          <a:noFill/>
          <a:ln w="19050">
            <a:solidFill>
              <a:srgbClr val="C6CC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32308" y="324612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3F5FA"/>
          </a:solidFill>
          <a:ln/>
        </p:spPr>
      </p:sp>
      <p:sp>
        <p:nvSpPr>
          <p:cNvPr id="10" name="Shape 7"/>
          <p:cNvSpPr/>
          <p:nvPr/>
        </p:nvSpPr>
        <p:spPr>
          <a:xfrm>
            <a:off x="870052" y="3657600"/>
            <a:ext cx="658368" cy="658368"/>
          </a:xfrm>
          <a:prstGeom prst="ellipse">
            <a:avLst/>
          </a:prstGeom>
          <a:solidFill>
            <a:srgbClr val="EAEEF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060" y="3815608"/>
            <a:ext cx="342351" cy="34235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38148" y="34107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config.py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638148" y="399592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 ― 走行モードや速度を決める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381348" y="324612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3F5FA"/>
          </a:solidFill>
          <a:ln/>
        </p:spPr>
      </p:sp>
      <p:sp>
        <p:nvSpPr>
          <p:cNvPr id="15" name="Shape 11"/>
          <p:cNvSpPr/>
          <p:nvPr/>
        </p:nvSpPr>
        <p:spPr>
          <a:xfrm>
            <a:off x="4619092" y="3657600"/>
            <a:ext cx="658368" cy="658368"/>
          </a:xfrm>
          <a:prstGeom prst="ellipse">
            <a:avLst/>
          </a:prstGeom>
          <a:solidFill>
            <a:srgbClr val="E4FAF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100" y="3815608"/>
            <a:ext cx="342351" cy="34235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387188" y="34107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ultrasonic.py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camera.py / lidar.py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387188" y="399592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認知 ― センサーで周りを見る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8130388" y="324612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3F5FA"/>
          </a:solidFill>
          <a:ln/>
        </p:spPr>
      </p:sp>
      <p:sp>
        <p:nvSpPr>
          <p:cNvPr id="20" name="Shape 15"/>
          <p:cNvSpPr/>
          <p:nvPr/>
        </p:nvSpPr>
        <p:spPr>
          <a:xfrm>
            <a:off x="8368132" y="3657600"/>
            <a:ext cx="658368" cy="658368"/>
          </a:xfrm>
          <a:prstGeom prst="ellipse">
            <a:avLst/>
          </a:prstGeom>
          <a:solidFill>
            <a:srgbClr val="FFEDE9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6140" y="3815608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36228" y="34107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planner.py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9136228" y="399592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 ― 走り方のロジックを決める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32308" y="5001768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3F5FA"/>
          </a:solidFill>
          <a:ln/>
        </p:spPr>
      </p:sp>
      <p:sp>
        <p:nvSpPr>
          <p:cNvPr id="25" name="Shape 19"/>
          <p:cNvSpPr/>
          <p:nvPr/>
        </p:nvSpPr>
        <p:spPr>
          <a:xfrm>
            <a:off x="870052" y="5413248"/>
            <a:ext cx="658368" cy="658368"/>
          </a:xfrm>
          <a:prstGeom prst="ellipse">
            <a:avLst/>
          </a:prstGeom>
          <a:solidFill>
            <a:srgbClr val="EAEEF6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060" y="5571256"/>
            <a:ext cx="342351" cy="34235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38148" y="5166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motor.py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638148" y="5751576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 ― ステアリング・モーターへ出力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4381348" y="5001768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3F5FA"/>
          </a:solidFill>
          <a:ln/>
        </p:spPr>
      </p:sp>
      <p:sp>
        <p:nvSpPr>
          <p:cNvPr id="30" name="Shape 23"/>
          <p:cNvSpPr/>
          <p:nvPr/>
        </p:nvSpPr>
        <p:spPr>
          <a:xfrm>
            <a:off x="4619092" y="5413248"/>
            <a:ext cx="658368" cy="658368"/>
          </a:xfrm>
          <a:prstGeom prst="ellipse">
            <a:avLst/>
          </a:prstGeom>
          <a:solidFill>
            <a:srgbClr val="E4FAFC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100" y="5571256"/>
            <a:ext cx="342351" cy="34235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387188" y="5166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train_pytorch.py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5387188" y="5751576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 ― 走行データからAIモデルを作る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8130388" y="5001768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3F5FA"/>
          </a:solidFill>
          <a:ln/>
        </p:spPr>
      </p:sp>
      <p:sp>
        <p:nvSpPr>
          <p:cNvPr id="35" name="Shape 27"/>
          <p:cNvSpPr/>
          <p:nvPr/>
        </p:nvSpPr>
        <p:spPr>
          <a:xfrm>
            <a:off x="8368132" y="5413248"/>
            <a:ext cx="658368" cy="658368"/>
          </a:xfrm>
          <a:prstGeom prst="ellipse">
            <a:avLst/>
          </a:prstGeom>
          <a:solidFill>
            <a:srgbClr val="FFEDE9"/>
          </a:solidFill>
          <a:ln/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6140" y="5571256"/>
            <a:ext cx="342351" cy="342351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9136228" y="5166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data_viewer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(外部Webアプリ)</a:t>
            </a:r>
            <a:endParaRPr lang="en-US" sz="1350" dirty="0"/>
          </a:p>
        </p:txBody>
      </p:sp>
      <p:sp>
        <p:nvSpPr>
          <p:cNvPr id="38" name="Text 29"/>
          <p:cNvSpPr/>
          <p:nvPr/>
        </p:nvSpPr>
        <p:spPr>
          <a:xfrm>
            <a:off x="9136228" y="5751576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ツール ― データの可視化・確認</a:t>
            </a:r>
            <a:endParaRPr lang="en-US" sz="1050" dirty="0"/>
          </a:p>
        </p:txBody>
      </p:sp>
      <p:sp>
        <p:nvSpPr>
          <p:cNvPr id="39" name="Text 30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FLOW ― プログラムはこの順番で動く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実行フロー ― 複数プログラムの連携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 起動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063240" y="14173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0" y="1417320"/>
            <a:ext cx="3291840" cy="457200"/>
          </a:xfrm>
          <a:prstGeom prst="roundRect">
            <a:avLst>
              <a:gd name="adj" fmla="val 16000"/>
            </a:avLst>
          </a:prstGeom>
          <a:solidFill>
            <a:srgbClr val="EAEEF6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417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config.py 読み込み（設定を反映）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11091672" cy="2148840"/>
          </a:xfrm>
          <a:prstGeom prst="roundRect">
            <a:avLst>
              <a:gd name="adj" fmla="val 5957"/>
            </a:avLst>
          </a:prstGeom>
          <a:solidFill>
            <a:srgbClr val="F3F5F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14884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メインループ（1秒間に何度も繰り返す）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2514600"/>
            <a:ext cx="2423160" cy="777240"/>
          </a:xfrm>
          <a:prstGeom prst="roundRect">
            <a:avLst>
              <a:gd name="adj" fmla="val 9412"/>
            </a:avLst>
          </a:prstGeom>
          <a:solidFill>
            <a:srgbClr val="E4FAFC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2624328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センサー取得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2935224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ultrasonic.py / camera.py / lidar.py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3246120" y="251460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520440" y="2514600"/>
            <a:ext cx="2423160" cy="777240"/>
          </a:xfrm>
          <a:prstGeom prst="roundRect">
            <a:avLst>
              <a:gd name="adj" fmla="val 9412"/>
            </a:avLst>
          </a:prstGeom>
          <a:solidFill>
            <a:srgbClr val="FFEDE9"/>
          </a:solidFill>
          <a:ln/>
        </p:spPr>
      </p:sp>
      <p:sp>
        <p:nvSpPr>
          <p:cNvPr id="16" name="Text 14"/>
          <p:cNvSpPr/>
          <p:nvPr/>
        </p:nvSpPr>
        <p:spPr>
          <a:xfrm>
            <a:off x="3630168" y="2624328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planner.py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630168" y="2935224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判断（steering, throttle決定）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5943600" y="251460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17920" y="2514600"/>
            <a:ext cx="2423160" cy="777240"/>
          </a:xfrm>
          <a:prstGeom prst="roundRect">
            <a:avLst>
              <a:gd name="adj" fmla="val 9412"/>
            </a:avLst>
          </a:prstGeom>
          <a:solidFill>
            <a:srgbClr val="EAEEF6"/>
          </a:solidFill>
          <a:ln/>
        </p:spPr>
      </p:sp>
      <p:sp>
        <p:nvSpPr>
          <p:cNvPr id="20" name="Text 18"/>
          <p:cNvSpPr/>
          <p:nvPr/>
        </p:nvSpPr>
        <p:spPr>
          <a:xfrm>
            <a:off x="6327648" y="2624328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motor.py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27648" y="2935224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操作（PWM出力）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8641080" y="251460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915400" y="2514600"/>
            <a:ext cx="2423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6DA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25128" y="2624328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記録（任意）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025128" y="2935224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record_manager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10126980" y="3291840"/>
            <a:ext cx="0" cy="320040"/>
          </a:xfrm>
          <a:prstGeom prst="line">
            <a:avLst/>
          </a:prstGeom>
          <a:noFill/>
          <a:ln w="25400">
            <a:solidFill>
              <a:srgbClr val="FF4B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34540" y="3611880"/>
            <a:ext cx="8092440" cy="0"/>
          </a:xfrm>
          <a:prstGeom prst="line">
            <a:avLst/>
          </a:prstGeom>
          <a:noFill/>
          <a:ln w="25400">
            <a:solidFill>
              <a:srgbClr val="FF4B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34540" y="3291840"/>
            <a:ext cx="0" cy="320040"/>
          </a:xfrm>
          <a:prstGeom prst="line">
            <a:avLst/>
          </a:prstGeom>
          <a:noFill/>
          <a:ln w="25400">
            <a:solidFill>
              <a:srgbClr val="FF4B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897380" y="319125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52060" y="347472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052060" y="3474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くり返す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4526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学習ループ（オフライン・任意）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22960" y="4846320"/>
            <a:ext cx="2423160" cy="731520"/>
          </a:xfrm>
          <a:prstGeom prst="roundRect">
            <a:avLst>
              <a:gd name="adj" fmla="val 10000"/>
            </a:avLst>
          </a:prstGeom>
          <a:solidFill>
            <a:srgbClr val="EAEEF6"/>
          </a:solidFill>
          <a:ln/>
        </p:spPr>
      </p:sp>
      <p:sp>
        <p:nvSpPr>
          <p:cNvPr id="34" name="Text 32"/>
          <p:cNvSpPr/>
          <p:nvPr/>
        </p:nvSpPr>
        <p:spPr>
          <a:xfrm>
            <a:off x="932688" y="484632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記録データ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246120" y="4846320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3520440" y="4846320"/>
            <a:ext cx="2423160" cy="731520"/>
          </a:xfrm>
          <a:prstGeom prst="roundRect">
            <a:avLst>
              <a:gd name="adj" fmla="val 10000"/>
            </a:avLst>
          </a:prstGeom>
          <a:solidFill>
            <a:srgbClr val="E4FAFC"/>
          </a:solidFill>
          <a:ln/>
        </p:spPr>
      </p:sp>
      <p:sp>
        <p:nvSpPr>
          <p:cNvPr id="37" name="Text 35"/>
          <p:cNvSpPr/>
          <p:nvPr/>
        </p:nvSpPr>
        <p:spPr>
          <a:xfrm>
            <a:off x="3630168" y="484632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data_viewer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630168" y="5193792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で確認・整理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943600" y="4846320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217920" y="4846320"/>
            <a:ext cx="2423160" cy="731520"/>
          </a:xfrm>
          <a:prstGeom prst="roundRect">
            <a:avLst>
              <a:gd name="adj" fmla="val 10000"/>
            </a:avLst>
          </a:prstGeom>
          <a:solidFill>
            <a:srgbClr val="FFEDE9"/>
          </a:solidFill>
          <a:ln/>
        </p:spPr>
      </p:sp>
      <p:sp>
        <p:nvSpPr>
          <p:cNvPr id="41" name="Text 39"/>
          <p:cNvSpPr/>
          <p:nvPr/>
        </p:nvSpPr>
        <p:spPr>
          <a:xfrm>
            <a:off x="6327648" y="484632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train_pytorch.py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327648" y="5193792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で学習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641080" y="4846320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8915400" y="4846320"/>
            <a:ext cx="2423160" cy="731520"/>
          </a:xfrm>
          <a:prstGeom prst="roundRect">
            <a:avLst>
              <a:gd name="adj" fmla="val 10000"/>
            </a:avLst>
          </a:prstGeom>
          <a:solidFill>
            <a:srgbClr val="10131A"/>
          </a:solidFill>
          <a:ln/>
        </p:spPr>
      </p:sp>
      <p:sp>
        <p:nvSpPr>
          <p:cNvPr id="45" name="Text 43"/>
          <p:cNvSpPr/>
          <p:nvPr/>
        </p:nvSpPr>
        <p:spPr>
          <a:xfrm>
            <a:off x="9025128" y="484632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学習済みモデル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 flipH="1">
            <a:off x="2034540" y="4160520"/>
            <a:ext cx="8092440" cy="685800"/>
          </a:xfrm>
          <a:prstGeom prst="line">
            <a:avLst/>
          </a:prstGeom>
          <a:noFill/>
          <a:ln w="19050">
            <a:solidFill>
              <a:srgbClr val="3A4A6B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1851660" y="47091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732020" y="3291840"/>
            <a:ext cx="5394960" cy="1554480"/>
          </a:xfrm>
          <a:prstGeom prst="line">
            <a:avLst/>
          </a:prstGeom>
          <a:noFill/>
          <a:ln w="19050">
            <a:solidFill>
              <a:srgbClr val="00B4C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594860" y="315468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10131A"/>
          </a:solidFill>
          <a:ln/>
        </p:spPr>
      </p:sp>
      <p:sp>
        <p:nvSpPr>
          <p:cNvPr id="51" name="Text 49"/>
          <p:cNvSpPr/>
          <p:nvPr/>
        </p:nvSpPr>
        <p:spPr>
          <a:xfrm>
            <a:off x="777240" y="580644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記録したデータは学習ループへ、学習済みモデルは planner.py の推論(自動走行時)へ ― どちらも任意で、手動運転だけでも走行可能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RUN.PY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run.py ― 全体を動かす指揮者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run.py 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を実行すると起動する、走行時のメインプログラム。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認知・判断・操作・記録の4つの処理を、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電源が切れるまでひたすら繰り返す。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3474720"/>
            <a:ext cx="4937760" cy="1691640"/>
          </a:xfrm>
          <a:prstGeom prst="roundRect">
            <a:avLst>
              <a:gd name="adj" fmla="val 5405"/>
            </a:avLst>
          </a:prstGeom>
          <a:solidFill>
            <a:srgbClr val="10131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61188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E9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認知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E9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sensor_data = data_aggregator.update_sensors()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E9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判断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E9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steering, throttle = planner_instance.planning_seaquence(...)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E9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操作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E9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motor_instance.set_steering_pwm_value(steering)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52303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実際の run.py 中のコメント表記（簡略化）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91072" y="1828800"/>
            <a:ext cx="0" cy="3694176"/>
          </a:xfrm>
          <a:prstGeom prst="line">
            <a:avLst/>
          </a:prstGeom>
          <a:noFill/>
          <a:ln w="25400">
            <a:solidFill>
              <a:srgbClr val="D6DA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35040" y="1691640"/>
            <a:ext cx="512064" cy="512064"/>
          </a:xfrm>
          <a:prstGeom prst="ellipse">
            <a:avLst/>
          </a:prstGeom>
          <a:solidFill>
            <a:srgbClr val="FF4B2B"/>
          </a:solidFill>
          <a:ln/>
        </p:spPr>
      </p:sp>
      <p:sp>
        <p:nvSpPr>
          <p:cNvPr id="10" name="Text 8"/>
          <p:cNvSpPr/>
          <p:nvPr/>
        </p:nvSpPr>
        <p:spPr>
          <a:xfrm>
            <a:off x="6035040" y="1691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66560" y="163677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センサー値を取得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766560" y="198424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超音波/LiDAR/カメラ、コントローラーの状態を読む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2770632"/>
            <a:ext cx="512064" cy="512064"/>
          </a:xfrm>
          <a:prstGeom prst="ellipse">
            <a:avLst/>
          </a:prstGeom>
          <a:solidFill>
            <a:srgbClr val="FF4B2B"/>
          </a:solidFill>
          <a:ln/>
        </p:spPr>
      </p:sp>
      <p:sp>
        <p:nvSpPr>
          <p:cNvPr id="14" name="Text 12"/>
          <p:cNvSpPr/>
          <p:nvPr/>
        </p:nvSpPr>
        <p:spPr>
          <a:xfrm>
            <a:off x="6035040" y="27706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66560" y="271576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steering・throttle を決定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766560" y="30632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手動モードなら人間の入力、自動モードなら planner.py が計算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3849624"/>
            <a:ext cx="512064" cy="512064"/>
          </a:xfrm>
          <a:prstGeom prst="ellipse">
            <a:avLst/>
          </a:prstGeom>
          <a:solidFill>
            <a:srgbClr val="FF4B2B"/>
          </a:solidFill>
          <a:ln/>
        </p:spPr>
      </p:sp>
      <p:sp>
        <p:nvSpPr>
          <p:cNvPr id="18" name="Text 16"/>
          <p:cNvSpPr/>
          <p:nvPr/>
        </p:nvSpPr>
        <p:spPr>
          <a:xfrm>
            <a:off x="6035040" y="38496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66560" y="37947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モーターへ出力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0" y="414223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motor.py 経由でPWM信号としてサーボ・ESCへ送る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35040" y="4928616"/>
            <a:ext cx="512064" cy="512064"/>
          </a:xfrm>
          <a:prstGeom prst="ellipse">
            <a:avLst/>
          </a:prstGeom>
          <a:solidFill>
            <a:srgbClr val="1F2A44"/>
          </a:solidFill>
          <a:ln/>
        </p:spPr>
      </p:sp>
      <p:sp>
        <p:nvSpPr>
          <p:cNvPr id="22" name="Text 20"/>
          <p:cNvSpPr/>
          <p:nvPr/>
        </p:nvSpPr>
        <p:spPr>
          <a:xfrm>
            <a:off x="6035040" y="4928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66560" y="487375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データを記録（任意）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766560" y="5221224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記録中なら画像・センサー値・操作値を保存し学習に使う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035040" y="5989320"/>
            <a:ext cx="5605272" cy="502920"/>
          </a:xfrm>
          <a:prstGeom prst="roundRect">
            <a:avLst>
              <a:gd name="adj" fmla="val 14545"/>
            </a:avLst>
          </a:prstGeom>
          <a:solidFill>
            <a:srgbClr val="F3F5F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59893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コントローラーのSボタンで「手動 → 自動ステアリングのみ → 完全自動」を切替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CONFIG.PY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config.py ― 挙動を決める設定書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プログラムのコードを書き換えなくても、この1ファイルを編集するだけで走行モードや速度、使うセンサーを変更できる。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291840" cy="868680"/>
          </a:xfrm>
          <a:prstGeom prst="roundRect">
            <a:avLst>
              <a:gd name="adj" fmla="val 10526"/>
            </a:avLst>
          </a:prstGeom>
          <a:solidFill>
            <a:srgbClr val="EAEEF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317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config_default.py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デフォルト設定（原本・編集しない）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86200" y="233172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自動コピー →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349240" y="2331720"/>
            <a:ext cx="3291840" cy="868680"/>
          </a:xfrm>
          <a:prstGeom prst="roundRect">
            <a:avLst>
              <a:gd name="adj" fmla="val 10526"/>
            </a:avLst>
          </a:prstGeom>
          <a:solidFill>
            <a:srgbClr val="FFEDE9"/>
          </a:solidFill>
          <a:ln/>
        </p:spPr>
      </p:sp>
      <p:sp>
        <p:nvSpPr>
          <p:cNvPr id="9" name="Text 7"/>
          <p:cNvSpPr/>
          <p:nvPr/>
        </p:nvSpPr>
        <p:spPr>
          <a:xfrm>
            <a:off x="5532120" y="23317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config.py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個人設定（自由に編集OK・git管理外）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869680" y="233172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削除すれば config_default.py から再生成される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主な設定項目（抜粋）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8138160" cy="1965960"/>
        </p:xfrm>
        <a:graphic>
          <a:graphicData uri="http://schemas.openxmlformats.org/drawingml/2006/table">
            <a:tbl>
              <a:tblPr/>
              <a:tblGrid>
                <a:gridCol w="2743200"/>
                <a:gridCol w="2103120"/>
                <a:gridCol w="329184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013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意味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013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値の例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0131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4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走行モード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"right_left_3" / "donkeycar" / "nn" など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4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ACTIVE_SENSORS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使うセンサー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["ultrasonic"] / ["lidar","camera_0"] など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4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FORWARD_STRAIGHT / CORNER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速度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直線用 0.4 ／ カーブ用 0.3（0〜1）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4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MODEL_NAME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学習済みモデル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自動走行で読み込むファイル名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8915400" y="3520440"/>
            <a:ext cx="2724912" cy="2331720"/>
          </a:xfrm>
          <a:prstGeom prst="roundRect">
            <a:avLst>
              <a:gd name="adj" fmla="val 3922"/>
            </a:avLst>
          </a:prstGeom>
          <a:solidFill>
            <a:srgbClr val="F3F5FA"/>
          </a:solidFill>
          <a:ln/>
        </p:spPr>
      </p:sp>
      <p:sp>
        <p:nvSpPr>
          <p:cNvPr id="14" name="Text 11"/>
          <p:cNvSpPr/>
          <p:nvPr/>
        </p:nvSpPr>
        <p:spPr>
          <a:xfrm>
            <a:off x="9098280" y="3639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走行モード一覧（抜粋）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098280" y="3950208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manual（手動）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right_left_3（回避）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wall_follow_pid（壁沿い）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nn（NN推論）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donkeycar（CNN）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ULTRASONIC.PY / CAMERA.PY / LIDAR.PY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認知 ― センサーで周りを見る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超音波・LiDARは「ToF（Time of Flight）方式」で、波を発射して反射が戻るまでの時間から距離を計算する。カメラは光を捉えて画像として周囲を記録する。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2308" y="233172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3F5FA"/>
          </a:solidFill>
          <a:ln/>
        </p:spPr>
      </p:sp>
      <p:sp>
        <p:nvSpPr>
          <p:cNvPr id="6" name="Shape 4"/>
          <p:cNvSpPr/>
          <p:nvPr/>
        </p:nvSpPr>
        <p:spPr>
          <a:xfrm>
            <a:off x="1889608" y="2560320"/>
            <a:ext cx="914400" cy="914400"/>
          </a:xfrm>
          <a:prstGeom prst="ellipse">
            <a:avLst/>
          </a:prstGeom>
          <a:solidFill>
            <a:srgbClr val="E4FAF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9064" y="2779776"/>
            <a:ext cx="475488" cy="4754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15188" y="35661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超音波センサー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15188" y="38679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ultrasonic.py（HC-SR04）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906628" y="42976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検知角度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141068" y="42976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約15度（片側）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06628" y="46634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検知距離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2141068" y="466344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2cm〜400cm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06628" y="50292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精度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141068" y="502920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±3mm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06628" y="539496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コスト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141068" y="539496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安価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381348" y="233172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3F5FA"/>
          </a:solidFill>
          <a:ln/>
        </p:spPr>
      </p:sp>
      <p:sp>
        <p:nvSpPr>
          <p:cNvPr id="19" name="Shape 16"/>
          <p:cNvSpPr/>
          <p:nvPr/>
        </p:nvSpPr>
        <p:spPr>
          <a:xfrm>
            <a:off x="5638648" y="2560320"/>
            <a:ext cx="914400" cy="914400"/>
          </a:xfrm>
          <a:prstGeom prst="ellipse">
            <a:avLst/>
          </a:prstGeom>
          <a:solidFill>
            <a:srgbClr val="FFEDE9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8104" y="2779776"/>
            <a:ext cx="475488" cy="47548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64228" y="35661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LiDAR</a:t>
            </a:r>
            <a:endParaRPr lang="en-US" sz="1550" dirty="0"/>
          </a:p>
        </p:txBody>
      </p:sp>
      <p:sp>
        <p:nvSpPr>
          <p:cNvPr id="22" name="Text 18"/>
          <p:cNvSpPr/>
          <p:nvPr/>
        </p:nvSpPr>
        <p:spPr>
          <a:xfrm>
            <a:off x="4564228" y="38679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lidar.py（YDLIDAR等）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655668" y="42976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検知角度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5890108" y="42976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270〜360度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4655668" y="46634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検知距離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890108" y="466344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2cm〜12m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4655668" y="50292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精度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5890108" y="502920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数mm〜数cm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655668" y="539496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コスト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890108" y="539496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高価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8130388" y="233172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3F5FA"/>
          </a:solidFill>
          <a:ln/>
        </p:spPr>
      </p:sp>
      <p:sp>
        <p:nvSpPr>
          <p:cNvPr id="32" name="Shape 28"/>
          <p:cNvSpPr/>
          <p:nvPr/>
        </p:nvSpPr>
        <p:spPr>
          <a:xfrm>
            <a:off x="9387688" y="2560320"/>
            <a:ext cx="914400" cy="914400"/>
          </a:xfrm>
          <a:prstGeom prst="ellipse">
            <a:avLst/>
          </a:prstGeom>
          <a:solidFill>
            <a:srgbClr val="EAEEF6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7144" y="2779776"/>
            <a:ext cx="475488" cy="475488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8313268" y="35661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カメラ</a:t>
            </a:r>
            <a:endParaRPr lang="en-US" sz="1550" dirty="0"/>
          </a:p>
        </p:txBody>
      </p:sp>
      <p:sp>
        <p:nvSpPr>
          <p:cNvPr id="35" name="Text 30"/>
          <p:cNvSpPr/>
          <p:nvPr/>
        </p:nvSpPr>
        <p:spPr>
          <a:xfrm>
            <a:off x="8313268" y="38679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camera.py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8404708" y="42976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取得情報</a:t>
            </a:r>
            <a:endParaRPr lang="en-US" sz="1050" dirty="0"/>
          </a:p>
        </p:txBody>
      </p:sp>
      <p:sp>
        <p:nvSpPr>
          <p:cNvPr id="37" name="Text 32"/>
          <p:cNvSpPr/>
          <p:nvPr/>
        </p:nvSpPr>
        <p:spPr>
          <a:xfrm>
            <a:off x="9639148" y="42976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色・形・テクスチャ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8404708" y="46634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用途</a:t>
            </a:r>
            <a:endParaRPr lang="en-US" sz="1050" dirty="0"/>
          </a:p>
        </p:txBody>
      </p:sp>
      <p:sp>
        <p:nvSpPr>
          <p:cNvPr id="39" name="Text 34"/>
          <p:cNvSpPr/>
          <p:nvPr/>
        </p:nvSpPr>
        <p:spPr>
          <a:xfrm>
            <a:off x="9639148" y="466344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AI画像認識・物体検知</a:t>
            </a:r>
            <a:endParaRPr lang="en-US" sz="1050" dirty="0"/>
          </a:p>
        </p:txBody>
      </p:sp>
      <p:sp>
        <p:nvSpPr>
          <p:cNvPr id="40" name="Text 35"/>
          <p:cNvSpPr/>
          <p:nvPr/>
        </p:nvSpPr>
        <p:spPr>
          <a:xfrm>
            <a:off x="8404708" y="50292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環境依存</a:t>
            </a:r>
            <a:endParaRPr lang="en-US" sz="1050" dirty="0"/>
          </a:p>
        </p:txBody>
      </p:sp>
      <p:sp>
        <p:nvSpPr>
          <p:cNvPr id="41" name="Text 36"/>
          <p:cNvSpPr/>
          <p:nvPr/>
        </p:nvSpPr>
        <p:spPr>
          <a:xfrm>
            <a:off x="9639148" y="502920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照明に依存</a:t>
            </a:r>
            <a:endParaRPr lang="en-US" sz="1050" dirty="0"/>
          </a:p>
        </p:txBody>
      </p:sp>
      <p:sp>
        <p:nvSpPr>
          <p:cNvPr id="42" name="Text 37"/>
          <p:cNvSpPr/>
          <p:nvPr/>
        </p:nvSpPr>
        <p:spPr>
          <a:xfrm>
            <a:off x="8404708" y="539496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コスト</a:t>
            </a:r>
            <a:endParaRPr lang="en-US" sz="1050" dirty="0"/>
          </a:p>
        </p:txBody>
      </p:sp>
      <p:sp>
        <p:nvSpPr>
          <p:cNvPr id="43" name="Text 38"/>
          <p:cNvSpPr/>
          <p:nvPr/>
        </p:nvSpPr>
        <p:spPr>
          <a:xfrm>
            <a:off x="9639148" y="539496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やや高価</a:t>
            </a:r>
            <a:endParaRPr lang="en-US" sz="1050" dirty="0"/>
          </a:p>
        </p:txBody>
      </p:sp>
      <p:sp>
        <p:nvSpPr>
          <p:cNvPr id="44" name="Text 39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PLANNER.PY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planner.py ― 走り方を決める頭脳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認知で得たセンサー値をもとに、ステアリングとスロットルを決める。判断方式は大きく2種類。出力は常に -1〜1 の統一形式。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212080" cy="1554480"/>
          </a:xfrm>
          <a:prstGeom prst="roundRect">
            <a:avLst>
              <a:gd name="adj" fmla="val 5882"/>
            </a:avLst>
          </a:prstGeom>
          <a:solidFill>
            <a:srgbClr val="EAEEF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4505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ルールベース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「こういう時はこうする」を人間が明示的に書く方式。right_left_3・wall_follow・wall_follow_pid など。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40156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動作が明確・少ないデータで動く　× 複雑な状況に弱い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4114800"/>
            <a:ext cx="5212080" cy="1554480"/>
          </a:xfrm>
          <a:prstGeom prst="roundRect">
            <a:avLst>
              <a:gd name="adj" fmla="val 5882"/>
            </a:avLst>
          </a:prstGeom>
          <a:solidFill>
            <a:srgbClr val="FFEDE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279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ニューラルネットワーク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464515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人間の運転データを学習し、AIが判断する方式。nn（センサー値）・donkeycar / resnet18（カメラ画像）など。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523036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55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複雑なパターンに対応　× 大量の学習データが必要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0" y="2286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例：right_left_3（3センサー障害物回避）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26480" y="2743200"/>
            <a:ext cx="5486400" cy="502920"/>
          </a:xfrm>
          <a:prstGeom prst="roundRect">
            <a:avLst>
              <a:gd name="adj" fmla="val 14545"/>
            </a:avLst>
          </a:prstGeom>
          <a:solidFill>
            <a:srgbClr val="10131A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27432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前方センサー値を取得（左前・正面・右前）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26480" y="32644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26480" y="3566160"/>
            <a:ext cx="5486400" cy="502920"/>
          </a:xfrm>
          <a:prstGeom prst="roundRect">
            <a:avLst>
              <a:gd name="adj" fmla="val 14545"/>
            </a:avLst>
          </a:prstGeom>
          <a:solidFill>
            <a:srgbClr val="EAEEF6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35661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いずれかが検知距離より近い？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26480" y="40873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126480" y="4389120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E4FAFC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43891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左右どちらが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より開けている？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06840" y="4389120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FFEDE9"/>
          </a:solidFill>
          <a:ln/>
        </p:spPr>
      </p:sp>
      <p:sp>
        <p:nvSpPr>
          <p:cNvPr id="23" name="Text 21"/>
          <p:cNvSpPr/>
          <p:nvPr/>
        </p:nvSpPr>
        <p:spPr>
          <a:xfrm>
            <a:off x="9098280" y="43891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障害物なし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そのまま直進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126480" y="52303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126480" y="5532120"/>
            <a:ext cx="5486400" cy="502920"/>
          </a:xfrm>
          <a:prstGeom prst="roundRect">
            <a:avLst>
              <a:gd name="adj" fmla="val 14545"/>
            </a:avLst>
          </a:prstGeom>
          <a:solidFill>
            <a:srgbClr val="FF4B2B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55321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開けている側へ旋回 → steering 出力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MOTOR.PY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motor.py ― 命令を実際の動きに変える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planner.py が決めた「-1〜1の指示値」を、サーボ・ESCが理解できる「PWM信号」に変換して物理的に車を動かす。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PWM信号の仕組み（パルス幅で角度・速度を指定）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5120640" cy="0"/>
          </a:xfrm>
          <a:prstGeom prst="line">
            <a:avLst/>
          </a:prstGeom>
          <a:noFill/>
          <a:ln w="12700">
            <a:solidFill>
              <a:srgbClr val="D6DA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743200"/>
            <a:ext cx="0" cy="640080"/>
          </a:xfrm>
          <a:prstGeom prst="line">
            <a:avLst/>
          </a:prstGeom>
          <a:noFill/>
          <a:ln w="25400">
            <a:solidFill>
              <a:srgbClr val="FF4B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743200"/>
            <a:ext cx="502920" cy="0"/>
          </a:xfrm>
          <a:prstGeom prst="line">
            <a:avLst/>
          </a:prstGeom>
          <a:noFill/>
          <a:ln w="25400">
            <a:solidFill>
              <a:srgbClr val="FF4B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4440" y="2743200"/>
            <a:ext cx="0" cy="640080"/>
          </a:xfrm>
          <a:prstGeom prst="line">
            <a:avLst/>
          </a:prstGeom>
          <a:noFill/>
          <a:ln w="25400">
            <a:solidFill>
              <a:srgbClr val="FF4B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45643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短い＝左最大 / 後退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68880" y="2743200"/>
            <a:ext cx="0" cy="640080"/>
          </a:xfrm>
          <a:prstGeom prst="line">
            <a:avLst/>
          </a:prstGeom>
          <a:noFill/>
          <a:ln w="25400">
            <a:solidFill>
              <a:srgbClr val="FF4B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68880" y="2743200"/>
            <a:ext cx="777240" cy="0"/>
          </a:xfrm>
          <a:prstGeom prst="line">
            <a:avLst/>
          </a:prstGeom>
          <a:noFill/>
          <a:ln w="25400">
            <a:solidFill>
              <a:srgbClr val="FF4B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743200"/>
            <a:ext cx="0" cy="640080"/>
          </a:xfrm>
          <a:prstGeom prst="line">
            <a:avLst/>
          </a:prstGeom>
          <a:noFill/>
          <a:ln w="25400">
            <a:solidFill>
              <a:srgbClr val="FF4B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345643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中間＝中央 / 停止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0" y="2743200"/>
            <a:ext cx="0" cy="640080"/>
          </a:xfrm>
          <a:prstGeom prst="line">
            <a:avLst/>
          </a:prstGeom>
          <a:noFill/>
          <a:ln w="25400">
            <a:solidFill>
              <a:srgbClr val="FF4B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2743200"/>
            <a:ext cx="1051560" cy="0"/>
          </a:xfrm>
          <a:prstGeom prst="line">
            <a:avLst/>
          </a:prstGeom>
          <a:noFill/>
          <a:ln w="25400">
            <a:solidFill>
              <a:srgbClr val="FF4B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40680" y="2743200"/>
            <a:ext cx="0" cy="640080"/>
          </a:xfrm>
          <a:prstGeom prst="line">
            <a:avLst/>
          </a:prstGeom>
          <a:noFill/>
          <a:ln w="25400">
            <a:solidFill>
              <a:srgbClr val="FF4B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0" y="345643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長い＝右最大 / 前進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4864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正規化値 → PWM値の対応（例：中央370, 幅80）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5120640" cy="123444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</a:tblGrid>
              <a:tr h="3086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ステアリング指示値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013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PWM値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0131A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-1.0（左最大）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0.0（直進）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+1.0（右最大）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6126480" y="224028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F3F5FA"/>
          </a:solidFill>
          <a:ln/>
        </p:spPr>
      </p:sp>
      <p:sp>
        <p:nvSpPr>
          <p:cNvPr id="22" name="Text 19"/>
          <p:cNvSpPr/>
          <p:nvPr/>
        </p:nvSpPr>
        <p:spPr>
          <a:xfrm>
            <a:off x="6355080" y="2423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ハードウェアの流れ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00800" y="288036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0" y="2880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/ Jetson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00800" y="3429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400800" y="374904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583680" y="3749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PCA9685（PWMコントローラ・I2C接続）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00800" y="4297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400800" y="461772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83680" y="4617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ステアリングサーボ ／ ESC（モーター）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400800" y="5532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PCA9685が正確なPWM信号を専用ハードウェアで生成するため、CPUの負荷を増やさず安定して動かせる。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TRAIN_PYTORCH.PY / DATA_VIEWER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train_pytorch.py ― 運転を学習する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AIに運転を学習させるための一連の流れ。ルールベースでは対応しきれない状況にも対応できるようになる。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86588" y="23774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F3F5FA"/>
          </a:solidFill>
          <a:ln/>
        </p:spPr>
      </p:sp>
      <p:sp>
        <p:nvSpPr>
          <p:cNvPr id="6" name="Shape 4"/>
          <p:cNvSpPr/>
          <p:nvPr/>
        </p:nvSpPr>
        <p:spPr>
          <a:xfrm>
            <a:off x="723748" y="2514600"/>
            <a:ext cx="365760" cy="365760"/>
          </a:xfrm>
          <a:prstGeom prst="ellipse">
            <a:avLst/>
          </a:prstGeom>
          <a:solidFill>
            <a:srgbClr val="FF4B2B"/>
          </a:solidFill>
          <a:ln/>
        </p:spPr>
      </p:sp>
      <p:sp>
        <p:nvSpPr>
          <p:cNvPr id="7" name="Text 5"/>
          <p:cNvSpPr/>
          <p:nvPr/>
        </p:nvSpPr>
        <p:spPr>
          <a:xfrm>
            <a:off x="723748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409548" y="2994660"/>
            <a:ext cx="868680" cy="868680"/>
          </a:xfrm>
          <a:prstGeom prst="ellipse">
            <a:avLst/>
          </a:prstGeom>
          <a:solidFill>
            <a:srgbClr val="E4FAF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8031" y="3203143"/>
            <a:ext cx="451714" cy="45171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9468" y="39776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手動走行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9468" y="431596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人がコントローラーで操作し、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センサー値・画像・操作値を記録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119476" y="3520440"/>
            <a:ext cx="283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3421228" y="23774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F3F5FA"/>
          </a:solidFill>
          <a:ln/>
        </p:spPr>
      </p:sp>
      <p:sp>
        <p:nvSpPr>
          <p:cNvPr id="14" name="Shape 11"/>
          <p:cNvSpPr/>
          <p:nvPr/>
        </p:nvSpPr>
        <p:spPr>
          <a:xfrm>
            <a:off x="3558388" y="2514600"/>
            <a:ext cx="365760" cy="365760"/>
          </a:xfrm>
          <a:prstGeom prst="ellipse">
            <a:avLst/>
          </a:prstGeom>
          <a:solidFill>
            <a:srgbClr val="FF4B2B"/>
          </a:solidFill>
          <a:ln/>
        </p:spPr>
      </p:sp>
      <p:sp>
        <p:nvSpPr>
          <p:cNvPr id="15" name="Text 12"/>
          <p:cNvSpPr/>
          <p:nvPr/>
        </p:nvSpPr>
        <p:spPr>
          <a:xfrm>
            <a:off x="3558388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44188" y="2994660"/>
            <a:ext cx="868680" cy="868680"/>
          </a:xfrm>
          <a:prstGeom prst="ellipse">
            <a:avLst/>
          </a:prstGeom>
          <a:solidFill>
            <a:srgbClr val="EAEEF6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2671" y="3203143"/>
            <a:ext cx="451714" cy="45171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04108" y="39776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データ確認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3604108" y="431596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data_viewer（Webアプリ）で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収集データを確認・クレンジング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954116" y="3520440"/>
            <a:ext cx="283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6255868" y="23774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F3F5FA"/>
          </a:solidFill>
          <a:ln/>
        </p:spPr>
      </p:sp>
      <p:sp>
        <p:nvSpPr>
          <p:cNvPr id="22" name="Shape 18"/>
          <p:cNvSpPr/>
          <p:nvPr/>
        </p:nvSpPr>
        <p:spPr>
          <a:xfrm>
            <a:off x="6393028" y="2514600"/>
            <a:ext cx="365760" cy="365760"/>
          </a:xfrm>
          <a:prstGeom prst="ellipse">
            <a:avLst/>
          </a:prstGeom>
          <a:solidFill>
            <a:srgbClr val="FF4B2B"/>
          </a:solidFill>
          <a:ln/>
        </p:spPr>
      </p:sp>
      <p:sp>
        <p:nvSpPr>
          <p:cNvPr id="23" name="Text 19"/>
          <p:cNvSpPr/>
          <p:nvPr/>
        </p:nvSpPr>
        <p:spPr>
          <a:xfrm>
            <a:off x="6393028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7078828" y="2994660"/>
            <a:ext cx="868680" cy="868680"/>
          </a:xfrm>
          <a:prstGeom prst="ellipse">
            <a:avLst/>
          </a:prstGeom>
          <a:solidFill>
            <a:srgbClr val="FFEDE9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311" y="3203143"/>
            <a:ext cx="451714" cy="45171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38748" y="39776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学習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438748" y="431596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train_pytorch.py で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ニューラルネットを学習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8788756" y="3520440"/>
            <a:ext cx="283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4"/>
          <p:cNvSpPr/>
          <p:nvPr/>
        </p:nvSpPr>
        <p:spPr>
          <a:xfrm>
            <a:off x="9090508" y="23774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F3F5FA"/>
          </a:solidFill>
          <a:ln/>
        </p:spPr>
      </p:sp>
      <p:sp>
        <p:nvSpPr>
          <p:cNvPr id="30" name="Shape 25"/>
          <p:cNvSpPr/>
          <p:nvPr/>
        </p:nvSpPr>
        <p:spPr>
          <a:xfrm>
            <a:off x="9227668" y="2514600"/>
            <a:ext cx="365760" cy="365760"/>
          </a:xfrm>
          <a:prstGeom prst="ellipse">
            <a:avLst/>
          </a:prstGeom>
          <a:solidFill>
            <a:srgbClr val="FF4B2B"/>
          </a:solidFill>
          <a:ln/>
        </p:spPr>
      </p:sp>
      <p:sp>
        <p:nvSpPr>
          <p:cNvPr id="31" name="Text 26"/>
          <p:cNvSpPr/>
          <p:nvPr/>
        </p:nvSpPr>
        <p:spPr>
          <a:xfrm>
            <a:off x="9227668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9913468" y="2994660"/>
            <a:ext cx="868680" cy="868680"/>
          </a:xfrm>
          <a:prstGeom prst="ellipse">
            <a:avLst/>
          </a:prstGeom>
          <a:solidFill>
            <a:srgbClr val="E4FAFC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1951" y="3203143"/>
            <a:ext cx="451714" cy="45171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9273388" y="39776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自動走行</a:t>
            </a:r>
            <a:endParaRPr lang="en-US" sz="1400" dirty="0"/>
          </a:p>
        </p:txBody>
      </p:sp>
      <p:sp>
        <p:nvSpPr>
          <p:cNvPr id="35" name="Text 29"/>
          <p:cNvSpPr/>
          <p:nvPr/>
        </p:nvSpPr>
        <p:spPr>
          <a:xfrm>
            <a:off x="9273388" y="431596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学習済みモデルを使って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自動運転（donkeycar等）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586588" y="5486400"/>
            <a:ext cx="11018520" cy="502920"/>
          </a:xfrm>
          <a:prstGeom prst="roundRect">
            <a:avLst>
              <a:gd name="adj" fmla="val 14545"/>
            </a:avLst>
          </a:prstGeom>
          <a:solidFill>
            <a:srgbClr val="10131A"/>
          </a:solidFill>
          <a:ln/>
        </p:spPr>
      </p:sp>
      <p:sp>
        <p:nvSpPr>
          <p:cNvPr id="37" name="Text 31"/>
          <p:cNvSpPr/>
          <p:nvPr/>
        </p:nvSpPr>
        <p:spPr>
          <a:xfrm>
            <a:off x="815188" y="5486400"/>
            <a:ext cx="10561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カメラ画像を使うモデル（donkeycar / resnet18等）の学習には annotation_training_d2j との連携が必要</a:t>
            </a:r>
            <a:endParaRPr lang="en-US" sz="1050" dirty="0"/>
          </a:p>
        </p:txBody>
      </p:sp>
      <p:sp>
        <p:nvSpPr>
          <p:cNvPr id="38" name="Text 32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FEATURES ― まだまだ広い機能の世界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高度な機能マップ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200400" cy="1051560"/>
          </a:xfrm>
          <a:prstGeom prst="roundRect">
            <a:avLst>
              <a:gd name="adj" fmla="val 8696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01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473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77240" y="23682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config.py の設定項目数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114800" y="1691640"/>
            <a:ext cx="3200400" cy="1051560"/>
          </a:xfrm>
          <a:prstGeom prst="roundRect">
            <a:avLst>
              <a:gd name="adj" fmla="val 8696"/>
            </a:avLst>
          </a:prstGeom>
          <a:solidFill>
            <a:srgbClr val="10131A"/>
          </a:solidFill>
          <a:ln/>
        </p:spPr>
      </p:sp>
      <p:sp>
        <p:nvSpPr>
          <p:cNvPr id="8" name="Text 6"/>
          <p:cNvSpPr/>
          <p:nvPr/>
        </p:nvSpPr>
        <p:spPr>
          <a:xfrm>
            <a:off x="4343400" y="1801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15〜20%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343400" y="23682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これまでの基本解説でカバーした範囲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589520" y="1691640"/>
            <a:ext cx="4050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残りの大部分は、本格的なレース競技向けの高度な自律走行技術。ここから5つのジャンルを見ていく。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5984" y="3108960"/>
            <a:ext cx="2103120" cy="2880360"/>
          </a:xfrm>
          <a:prstGeom prst="roundRect">
            <a:avLst>
              <a:gd name="adj" fmla="val 5217"/>
            </a:avLst>
          </a:prstGeom>
          <a:solidFill>
            <a:srgbClr val="F3F5FA"/>
          </a:solidFill>
          <a:ln/>
        </p:spPr>
      </p:sp>
      <p:sp>
        <p:nvSpPr>
          <p:cNvPr id="12" name="Shape 10"/>
          <p:cNvSpPr/>
          <p:nvPr/>
        </p:nvSpPr>
        <p:spPr>
          <a:xfrm>
            <a:off x="943204" y="3360420"/>
            <a:ext cx="868680" cy="868680"/>
          </a:xfrm>
          <a:prstGeom prst="ellipse">
            <a:avLst/>
          </a:prstGeom>
          <a:solidFill>
            <a:srgbClr val="E4FAFC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87" y="3568903"/>
            <a:ext cx="451714" cy="45171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63144" y="43434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自己位置推定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63144" y="4937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SLAM / VSLAM / ArUco / AMCL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63144" y="5623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p.12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685136" y="3108960"/>
            <a:ext cx="2103120" cy="2880360"/>
          </a:xfrm>
          <a:prstGeom prst="roundRect">
            <a:avLst>
              <a:gd name="adj" fmla="val 5217"/>
            </a:avLst>
          </a:prstGeom>
          <a:solidFill>
            <a:srgbClr val="F3F5FA"/>
          </a:solidFill>
          <a:ln/>
        </p:spPr>
      </p:sp>
      <p:sp>
        <p:nvSpPr>
          <p:cNvPr id="18" name="Shape 15"/>
          <p:cNvSpPr/>
          <p:nvPr/>
        </p:nvSpPr>
        <p:spPr>
          <a:xfrm>
            <a:off x="3302356" y="3360420"/>
            <a:ext cx="868680" cy="868680"/>
          </a:xfrm>
          <a:prstGeom prst="ellipse">
            <a:avLst/>
          </a:prstGeom>
          <a:solidFill>
            <a:srgbClr val="FFEDE9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0839" y="3568903"/>
            <a:ext cx="451714" cy="45171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2822296" y="43434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経路追従・最適制御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2822296" y="4937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pursuit / MPC / MPPI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2822296" y="5623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p.13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5044288" y="3108960"/>
            <a:ext cx="2103120" cy="2880360"/>
          </a:xfrm>
          <a:prstGeom prst="roundRect">
            <a:avLst>
              <a:gd name="adj" fmla="val 5217"/>
            </a:avLst>
          </a:prstGeom>
          <a:solidFill>
            <a:srgbClr val="F3F5FA"/>
          </a:solidFill>
          <a:ln/>
        </p:spPr>
      </p:sp>
      <p:sp>
        <p:nvSpPr>
          <p:cNvPr id="24" name="Shape 20"/>
          <p:cNvSpPr/>
          <p:nvPr/>
        </p:nvSpPr>
        <p:spPr>
          <a:xfrm>
            <a:off x="5661508" y="3360420"/>
            <a:ext cx="868680" cy="868680"/>
          </a:xfrm>
          <a:prstGeom prst="ellipse">
            <a:avLst/>
          </a:prstGeom>
          <a:solidFill>
            <a:srgbClr val="EAEEF6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991" y="3568903"/>
            <a:ext cx="451714" cy="45171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5181448" y="43434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物体検知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181448" y="4937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5181448" y="5623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p.14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403440" y="3108960"/>
            <a:ext cx="2103120" cy="2880360"/>
          </a:xfrm>
          <a:prstGeom prst="roundRect">
            <a:avLst>
              <a:gd name="adj" fmla="val 5217"/>
            </a:avLst>
          </a:prstGeom>
          <a:solidFill>
            <a:srgbClr val="F3F5FA"/>
          </a:solidFill>
          <a:ln/>
        </p:spPr>
      </p:sp>
      <p:sp>
        <p:nvSpPr>
          <p:cNvPr id="30" name="Shape 25"/>
          <p:cNvSpPr/>
          <p:nvPr/>
        </p:nvSpPr>
        <p:spPr>
          <a:xfrm>
            <a:off x="8020660" y="3360420"/>
            <a:ext cx="868680" cy="868680"/>
          </a:xfrm>
          <a:prstGeom prst="ellipse">
            <a:avLst/>
          </a:prstGeom>
          <a:solidFill>
            <a:srgbClr val="E4FAFC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143" y="3568903"/>
            <a:ext cx="451714" cy="45171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540600" y="43434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安全機構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7540600" y="4937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ControlArbiter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7540600" y="5623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p.15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9762592" y="3108960"/>
            <a:ext cx="2103120" cy="2880360"/>
          </a:xfrm>
          <a:prstGeom prst="roundRect">
            <a:avLst>
              <a:gd name="adj" fmla="val 5217"/>
            </a:avLst>
          </a:prstGeom>
          <a:solidFill>
            <a:srgbClr val="F3F5FA"/>
          </a:solidFill>
          <a:ln/>
        </p:spPr>
      </p:sp>
      <p:sp>
        <p:nvSpPr>
          <p:cNvPr id="36" name="Shape 30"/>
          <p:cNvSpPr/>
          <p:nvPr/>
        </p:nvSpPr>
        <p:spPr>
          <a:xfrm>
            <a:off x="10379812" y="3360420"/>
            <a:ext cx="868680" cy="868680"/>
          </a:xfrm>
          <a:prstGeom prst="ellipse">
            <a:avLst/>
          </a:prstGeom>
          <a:solidFill>
            <a:srgbClr val="FFEDE9"/>
          </a:solidFill>
          <a:ln/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8295" y="3568903"/>
            <a:ext cx="451714" cy="451714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9899752" y="43434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強化学習シミュレーター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9899752" y="4937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togikaidrive-sim</a:t>
            </a:r>
            <a:endParaRPr lang="en-US" sz="950" dirty="0"/>
          </a:p>
        </p:txBody>
      </p:sp>
      <p:sp>
        <p:nvSpPr>
          <p:cNvPr id="40" name="Text 33"/>
          <p:cNvSpPr/>
          <p:nvPr/>
        </p:nvSpPr>
        <p:spPr>
          <a:xfrm>
            <a:off x="9899752" y="5623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p.16</a:t>
            </a:r>
            <a:endParaRPr lang="en-US" sz="900" dirty="0"/>
          </a:p>
        </p:txBody>
      </p:sp>
      <p:sp>
        <p:nvSpPr>
          <p:cNvPr id="41" name="Text 34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LOCALIZATION/ (SLAM / VSLAM / ARUCO / AMCL)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自己位置推定 ― 「今どこにいるか」を知る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経路追従や最適制御を行うには、まず「自分が地図上のどこに・どの向きにいるか」を推定する必要がある。用途に応じて4種類の方式が用意されている。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1672" cy="2651760"/>
        </p:xfrm>
        <a:graphic>
          <a:graphicData uri="http://schemas.openxmlformats.org/drawingml/2006/table">
            <a:tbl>
              <a:tblPr/>
              <a:tblGrid>
                <a:gridCol w="2103120"/>
                <a:gridCol w="2286000"/>
                <a:gridCol w="2560320"/>
                <a:gridCol w="4142232"/>
              </a:tblGrid>
              <a:tr h="441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バックエンド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013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使用センサー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013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必要環境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013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方式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0131A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lidar_slam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LiDAR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不要(numpy/scipyのみ)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占有格子地図 + スキャンマッチング(自前実装)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slam_toolbox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LiDAR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ROS2必須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ポーズグラフSLAM。ループクロージャ対応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amcl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 + 事前地図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ROS2必須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パーティクルフィルタで保存済み地図に対して自己位置推定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visual_slam (VSLAM)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RealSense D435i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ROS2 + Isaac ROS必須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cuVSLAM(視覚慣性オドメトリ)。vio/mapping/localizeの3モード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A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aruco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外部の俯瞰カメラ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UDP受信のみ(ROS不要)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19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天井/コース脇のカメラでARマーカーを検出し三角測量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0131A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321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「map frame」と「odom frame」の違い： 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aruco / lidar_slam / slam_toolbox は絶対座標(map)を返すが、VSLAM は単体では相対座標(odom)止まり。経路追従には絶対座標が必要なため、VSLAMは VSLAM_MODE="localize" で使う。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LOCALIZATION/ (PATH_NAV / WAYPOINT_NAV / MPC / MPPI)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経路追従 ― 自己位置を使って正確に走る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自己位置が分かれば、あらかじめ記録した経路や目標点に向かって走れる。シンプルな幾何学的追従から、数手先を予測する最適制御まで、精度と計算コストが異なる複数の方式がある。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E4FAF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22960" y="27157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path_nav / waypoint_nav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931920" y="2331720"/>
            <a:ext cx="7434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pursuit法。記録した経路や目標点列へ、幾何学的に滑らかに追従する基本形。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29184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EAEEF6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66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38130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mpc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931920" y="3429000"/>
            <a:ext cx="7434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非線形モデル予測制御(iLQR)。数手先の動きまで計算し、path_navより精密に追従する上位互換。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FFEDE9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663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2960" y="49103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mppi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931920" y="4526280"/>
            <a:ext cx="7434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サンプリングベースの最適制御。経路追従に加え、LiDARで検知した障害物回避もコストに織り込む。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62356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0131A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60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600760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mppi_local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931920" y="5623560"/>
            <a:ext cx="7434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7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地図も自己位置も使わない発展形。LiDAR点群だけを見て、その場で開いた空間へ向かう。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YOLO_DETECTION.PY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YOLO ― カメラで物体を見分ける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カメラ画像に写る物体(標識・障害物など)をYOLOで検知し、結果を3つの方法で走行に活かす。config.py の USE_YOLO_* フラグで個別にON/OFFできる。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2308" y="242316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F3F5FA"/>
          </a:solidFill>
          <a:ln/>
        </p:spPr>
      </p:sp>
      <p:sp>
        <p:nvSpPr>
          <p:cNvPr id="6" name="Shape 4"/>
          <p:cNvSpPr/>
          <p:nvPr/>
        </p:nvSpPr>
        <p:spPr>
          <a:xfrm>
            <a:off x="1866748" y="2720340"/>
            <a:ext cx="960120" cy="960120"/>
          </a:xfrm>
          <a:prstGeom prst="ellipse">
            <a:avLst/>
          </a:prstGeom>
          <a:solidFill>
            <a:srgbClr val="E4FAF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7176" y="2950769"/>
            <a:ext cx="499262" cy="4992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0908" y="38404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  ルールで操作を上書き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06628" y="43891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検知したクラスに応じて、あらかじめ決めたステアリング補正・減速ルールを適用する(例: 停止標識を見たら減速)。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81348" y="242316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F3F5FA"/>
          </a:solidFill>
          <a:ln/>
        </p:spPr>
      </p:sp>
      <p:sp>
        <p:nvSpPr>
          <p:cNvPr id="11" name="Shape 8"/>
          <p:cNvSpPr/>
          <p:nvPr/>
        </p:nvSpPr>
        <p:spPr>
          <a:xfrm>
            <a:off x="5615788" y="2720340"/>
            <a:ext cx="960120" cy="960120"/>
          </a:xfrm>
          <a:prstGeom prst="ellipse">
            <a:avLst/>
          </a:prstGeom>
          <a:solidFill>
            <a:srgbClr val="FFEDE9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6216" y="2950769"/>
            <a:ext cx="499262" cy="49926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09948" y="38404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 モデルを自動で切替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655668" y="43891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検知した物体の種類に応じて、使用する走行モデル自体を切り替える。計算負荷を抑えるため数フレームに1回だけ実行。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30388" y="242316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F3F5FA"/>
          </a:solidFill>
          <a:ln/>
        </p:spPr>
      </p:sp>
      <p:sp>
        <p:nvSpPr>
          <p:cNvPr id="16" name="Shape 12"/>
          <p:cNvSpPr/>
          <p:nvPr/>
        </p:nvSpPr>
        <p:spPr>
          <a:xfrm>
            <a:off x="9364828" y="2720340"/>
            <a:ext cx="960120" cy="960120"/>
          </a:xfrm>
          <a:prstGeom prst="ellipse">
            <a:avLst/>
          </a:prstGeom>
          <a:solidFill>
            <a:srgbClr val="EAEEF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256" y="2950769"/>
            <a:ext cx="499262" cy="49926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58988" y="38404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 物体追従・回避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8404708" y="43891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検知した箱(バウンディングボックス)の画面中心からのズレに応じて、比例制御でステアリングを補正する。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32308" y="5852160"/>
            <a:ext cx="10927080" cy="457200"/>
          </a:xfrm>
          <a:prstGeom prst="roundRect">
            <a:avLst>
              <a:gd name="adj" fmla="val 16000"/>
            </a:avLst>
          </a:prstGeom>
          <a:solidFill>
            <a:srgbClr val="F3F5FA"/>
          </a:solidFill>
          <a:ln/>
        </p:spPr>
      </p:sp>
      <p:sp>
        <p:nvSpPr>
          <p:cNvPr id="21" name="Text 16"/>
          <p:cNvSpPr/>
          <p:nvPr/>
        </p:nvSpPr>
        <p:spPr>
          <a:xfrm>
            <a:off x="860908" y="5852160"/>
            <a:ext cx="10469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yolo11n〜yolo11x はモデルサイズの違い(nが最速・軽量、xが最高精度・低速)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ARBITER.PY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ControlArbiter ― 判断を二重チェックする安全弁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planner.py が出した判断(steering, throttle)を、状況に応じて上書きできる「安全弁」。planner.py の内部から毎フレーム呼び出される、走行ロジックの裏方。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10131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774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planner.py が主判断(steering, throttle)を計算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FF4B2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004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ControlArbiter.arbitrate()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7490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1F2A44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0233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motor.py へ出力(必要なら上書き済み)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126480" y="2286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3つの発動モード(ARBITER_MODE)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26480" y="2697480"/>
            <a:ext cx="5513832" cy="914400"/>
          </a:xfrm>
          <a:prstGeom prst="roundRect">
            <a:avLst>
              <a:gd name="adj" fmla="val 8000"/>
            </a:avLst>
          </a:prstGeom>
          <a:solidFill>
            <a:srgbClr val="E4FAFC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27889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55080" y="30815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自己位置推定の信頼度が下がったら、副プラン(例: カメラCNN)へ自動切替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126480" y="3749040"/>
            <a:ext cx="5513832" cy="914400"/>
          </a:xfrm>
          <a:prstGeom prst="roundRect">
            <a:avLst>
              <a:gd name="adj" fmla="val 8000"/>
            </a:avLst>
          </a:prstGeom>
          <a:solidFill>
            <a:srgbClr val="FFEDE9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3840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355080" y="41330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経路からのズレを監視し、逸脱していたら副プランへ切替、または緊急停止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126480" y="4800600"/>
            <a:ext cx="5513832" cy="914400"/>
          </a:xfrm>
          <a:prstGeom prst="roundRect">
            <a:avLst>
              <a:gd name="adj" fmla="val 8000"/>
            </a:avLst>
          </a:prstGeom>
          <a:solidFill>
            <a:srgbClr val="EAEEF6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4892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obstacle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355080" y="518464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LiDARが前方の狭い範囲に障害物を検知したら副プラン(例: ローカルMPPI回避)へ切替。ただし直進に近い時のみ判定し、コーナリング中の誤反応を避ける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TOGIKAIDRIVE-SIM/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togikaidrive-sim ― シミュレーターでAIを鍛える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実車を使わず、f1tenth_gym(レーシングシミュレーター)上でAIに運転を学習させる、研究レベルの高度な機能。plan="rl" で学習済みポリシーを実車に読み込める。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86588" y="23774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F3F5FA"/>
          </a:solidFill>
          <a:ln/>
        </p:spPr>
      </p:sp>
      <p:sp>
        <p:nvSpPr>
          <p:cNvPr id="6" name="Shape 4"/>
          <p:cNvSpPr/>
          <p:nvPr/>
        </p:nvSpPr>
        <p:spPr>
          <a:xfrm>
            <a:off x="723748" y="2514600"/>
            <a:ext cx="365760" cy="365760"/>
          </a:xfrm>
          <a:prstGeom prst="ellipse">
            <a:avLst/>
          </a:prstGeom>
          <a:solidFill>
            <a:srgbClr val="FF4B2B"/>
          </a:solidFill>
          <a:ln/>
        </p:spPr>
      </p:sp>
      <p:sp>
        <p:nvSpPr>
          <p:cNvPr id="7" name="Text 5"/>
          <p:cNvSpPr/>
          <p:nvPr/>
        </p:nvSpPr>
        <p:spPr>
          <a:xfrm>
            <a:off x="723748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409548" y="2994660"/>
            <a:ext cx="868680" cy="868680"/>
          </a:xfrm>
          <a:prstGeom prst="ellipse">
            <a:avLst/>
          </a:prstGeom>
          <a:solidFill>
            <a:srgbClr val="E4FAF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8031" y="3203143"/>
            <a:ext cx="451714" cy="45171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9468" y="39776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デモ収集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9468" y="431596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collect_demos.py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ルールベースplannerが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シミュレーター内で走行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3119476" y="3520440"/>
            <a:ext cx="283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3421228" y="23774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F3F5FA"/>
          </a:solidFill>
          <a:ln/>
        </p:spPr>
      </p:sp>
      <p:sp>
        <p:nvSpPr>
          <p:cNvPr id="14" name="Shape 11"/>
          <p:cNvSpPr/>
          <p:nvPr/>
        </p:nvSpPr>
        <p:spPr>
          <a:xfrm>
            <a:off x="3558388" y="2514600"/>
            <a:ext cx="365760" cy="365760"/>
          </a:xfrm>
          <a:prstGeom prst="ellipse">
            <a:avLst/>
          </a:prstGeom>
          <a:solidFill>
            <a:srgbClr val="FF4B2B"/>
          </a:solidFill>
          <a:ln/>
        </p:spPr>
      </p:sp>
      <p:sp>
        <p:nvSpPr>
          <p:cNvPr id="15" name="Text 12"/>
          <p:cNvSpPr/>
          <p:nvPr/>
        </p:nvSpPr>
        <p:spPr>
          <a:xfrm>
            <a:off x="3558388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44188" y="2994660"/>
            <a:ext cx="868680" cy="868680"/>
          </a:xfrm>
          <a:prstGeom prst="ellipse">
            <a:avLst/>
          </a:prstGeom>
          <a:solidFill>
            <a:srgbClr val="EAEEF6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2671" y="3203143"/>
            <a:ext cx="451714" cy="45171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04108" y="39776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事前学習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3604108" y="431596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pretrain_bc.py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模倣学習(Behavioral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Cloning)で土台を作る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5954116" y="3520440"/>
            <a:ext cx="283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6255868" y="23774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F3F5FA"/>
          </a:solidFill>
          <a:ln/>
        </p:spPr>
      </p:sp>
      <p:sp>
        <p:nvSpPr>
          <p:cNvPr id="22" name="Shape 18"/>
          <p:cNvSpPr/>
          <p:nvPr/>
        </p:nvSpPr>
        <p:spPr>
          <a:xfrm>
            <a:off x="6393028" y="2514600"/>
            <a:ext cx="365760" cy="365760"/>
          </a:xfrm>
          <a:prstGeom prst="ellipse">
            <a:avLst/>
          </a:prstGeom>
          <a:solidFill>
            <a:srgbClr val="FF4B2B"/>
          </a:solidFill>
          <a:ln/>
        </p:spPr>
      </p:sp>
      <p:sp>
        <p:nvSpPr>
          <p:cNvPr id="23" name="Text 19"/>
          <p:cNvSpPr/>
          <p:nvPr/>
        </p:nvSpPr>
        <p:spPr>
          <a:xfrm>
            <a:off x="6393028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7078828" y="2994660"/>
            <a:ext cx="868680" cy="868680"/>
          </a:xfrm>
          <a:prstGeom prst="ellipse">
            <a:avLst/>
          </a:prstGeom>
          <a:solidFill>
            <a:srgbClr val="FFEDE9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311" y="3203143"/>
            <a:ext cx="451714" cy="45171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38748" y="39776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強化学習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438748" y="431596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train_rl.py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SAC/PPO/TD3で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ポリシーを磨き込む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8788756" y="3520440"/>
            <a:ext cx="283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4"/>
          <p:cNvSpPr/>
          <p:nvPr/>
        </p:nvSpPr>
        <p:spPr>
          <a:xfrm>
            <a:off x="9090508" y="23774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F3F5FA"/>
          </a:solidFill>
          <a:ln/>
        </p:spPr>
      </p:sp>
      <p:sp>
        <p:nvSpPr>
          <p:cNvPr id="30" name="Shape 25"/>
          <p:cNvSpPr/>
          <p:nvPr/>
        </p:nvSpPr>
        <p:spPr>
          <a:xfrm>
            <a:off x="9227668" y="2514600"/>
            <a:ext cx="365760" cy="365760"/>
          </a:xfrm>
          <a:prstGeom prst="ellipse">
            <a:avLst/>
          </a:prstGeom>
          <a:solidFill>
            <a:srgbClr val="FF4B2B"/>
          </a:solidFill>
          <a:ln/>
        </p:spPr>
      </p:sp>
      <p:sp>
        <p:nvSpPr>
          <p:cNvPr id="31" name="Text 26"/>
          <p:cNvSpPr/>
          <p:nvPr/>
        </p:nvSpPr>
        <p:spPr>
          <a:xfrm>
            <a:off x="9227668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9913468" y="2994660"/>
            <a:ext cx="868680" cy="868680"/>
          </a:xfrm>
          <a:prstGeom prst="ellipse">
            <a:avLst/>
          </a:prstGeom>
          <a:solidFill>
            <a:srgbClr val="E4FAFC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1951" y="3203143"/>
            <a:ext cx="451714" cy="45171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9273388" y="39776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実車で使用</a:t>
            </a:r>
            <a:endParaRPr lang="en-US" sz="1400" dirty="0"/>
          </a:p>
        </p:txBody>
      </p:sp>
      <p:sp>
        <p:nvSpPr>
          <p:cNvPr id="35" name="Text 29"/>
          <p:cNvSpPr/>
          <p:nvPr/>
        </p:nvSpPr>
        <p:spPr>
          <a:xfrm>
            <a:off x="9273388" y="431596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enjoy_rl.py で評価、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plan="rl" で実車に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読み込んで走行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586588" y="5486400"/>
            <a:ext cx="11018520" cy="502920"/>
          </a:xfrm>
          <a:prstGeom prst="roundRect">
            <a:avLst>
              <a:gd name="adj" fmla="val 14545"/>
            </a:avLst>
          </a:prstGeom>
          <a:solidFill>
            <a:srgbClr val="10131A"/>
          </a:solidFill>
          <a:ln/>
        </p:spPr>
      </p:sp>
      <p:sp>
        <p:nvSpPr>
          <p:cNvPr id="37" name="Text 31"/>
          <p:cNvSpPr/>
          <p:nvPr/>
        </p:nvSpPr>
        <p:spPr>
          <a:xfrm>
            <a:off x="815188" y="5486400"/>
            <a:ext cx="10561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観測はLiDAR108本(ダウンサンプリング済み)+速度の計109次元ベクトル。実車と同じLiDAR構成なら、シムで学習したポリシーがそのまま活きる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114800"/>
            <a:ext cx="6400800" cy="6400800"/>
          </a:xfrm>
          <a:prstGeom prst="ellipse">
            <a:avLst/>
          </a:prstGeom>
          <a:ln w="15240">
            <a:solidFill>
              <a:srgbClr val="3A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まとめ ― なぜこの設計なのか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92328" y="1874520"/>
            <a:ext cx="5120640" cy="1691640"/>
          </a:xfrm>
          <a:prstGeom prst="roundRect">
            <a:avLst>
              <a:gd name="adj" fmla="val 6486"/>
            </a:avLst>
          </a:prstGeom>
          <a:solidFill>
            <a:srgbClr val="1F2A44"/>
          </a:solidFill>
          <a:ln/>
        </p:spPr>
      </p:sp>
      <p:sp>
        <p:nvSpPr>
          <p:cNvPr id="6" name="Shape 4"/>
          <p:cNvSpPr/>
          <p:nvPr/>
        </p:nvSpPr>
        <p:spPr>
          <a:xfrm>
            <a:off x="1135228" y="2331720"/>
            <a:ext cx="777240" cy="777240"/>
          </a:xfrm>
          <a:prstGeom prst="ellipse">
            <a:avLst/>
          </a:prstGeom>
          <a:solidFill>
            <a:srgbClr val="10131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1765" y="2518258"/>
            <a:ext cx="404165" cy="4041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72488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役割がはっきり分離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2072488" y="249631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認知(センサー)・判断(planner)・操作(motor)が独立しているので、どこを直せばいいか分かりやすい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120640" cy="1691640"/>
          </a:xfrm>
          <a:prstGeom prst="roundRect">
            <a:avLst>
              <a:gd name="adj" fmla="val 6486"/>
            </a:avLst>
          </a:prstGeom>
          <a:solidFill>
            <a:srgbClr val="1F2A44"/>
          </a:solidFill>
          <a:ln/>
        </p:spPr>
      </p:sp>
      <p:sp>
        <p:nvSpPr>
          <p:cNvPr id="11" name="Shape 8"/>
          <p:cNvSpPr/>
          <p:nvPr/>
        </p:nvSpPr>
        <p:spPr>
          <a:xfrm>
            <a:off x="6621628" y="2331720"/>
            <a:ext cx="777240" cy="777240"/>
          </a:xfrm>
          <a:prstGeom prst="ellipse">
            <a:avLst/>
          </a:prstGeom>
          <a:solidFill>
            <a:srgbClr val="10131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8165" y="2518258"/>
            <a:ext cx="404165" cy="40416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58888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config.py だけ触ればいい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7558888" y="249631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プログラムを書けなくても、速度やモード選びは設定ファイルの数値・文字を変えるだけで調整できる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792328" y="3886200"/>
            <a:ext cx="5120640" cy="1691640"/>
          </a:xfrm>
          <a:prstGeom prst="roundRect">
            <a:avLst>
              <a:gd name="adj" fmla="val 6486"/>
            </a:avLst>
          </a:prstGeom>
          <a:solidFill>
            <a:srgbClr val="1F2A44"/>
          </a:solidFill>
          <a:ln/>
        </p:spPr>
      </p:sp>
      <p:sp>
        <p:nvSpPr>
          <p:cNvPr id="16" name="Shape 12"/>
          <p:cNvSpPr/>
          <p:nvPr/>
        </p:nvSpPr>
        <p:spPr>
          <a:xfrm>
            <a:off x="1135228" y="4343400"/>
            <a:ext cx="777240" cy="777240"/>
          </a:xfrm>
          <a:prstGeom prst="ellipse">
            <a:avLst/>
          </a:prstGeom>
          <a:solidFill>
            <a:srgbClr val="10131A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765" y="4529938"/>
            <a:ext cx="404165" cy="40416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72488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ルールからAIまで選べる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2072488" y="450799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シンプルなルールベースから、学習させたニューラルネットまで、走行モードを切り替えて試せる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78728" y="3886200"/>
            <a:ext cx="5120640" cy="1691640"/>
          </a:xfrm>
          <a:prstGeom prst="roundRect">
            <a:avLst>
              <a:gd name="adj" fmla="val 6486"/>
            </a:avLst>
          </a:prstGeom>
          <a:solidFill>
            <a:srgbClr val="1F2A44"/>
          </a:solidFill>
          <a:ln/>
        </p:spPr>
      </p:sp>
      <p:sp>
        <p:nvSpPr>
          <p:cNvPr id="21" name="Shape 16"/>
          <p:cNvSpPr/>
          <p:nvPr/>
        </p:nvSpPr>
        <p:spPr>
          <a:xfrm>
            <a:off x="6621628" y="4343400"/>
            <a:ext cx="777240" cy="777240"/>
          </a:xfrm>
          <a:prstGeom prst="ellipse">
            <a:avLst/>
          </a:prstGeom>
          <a:solidFill>
            <a:srgbClr val="10131A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8165" y="4529938"/>
            <a:ext cx="404165" cy="40416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558888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段階的に慣れていける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7558888" y="450799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ultrasonic.py → motor.py → run.py の順にクイックスタートで動作確認しながら理解できる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792328" y="5715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次の一歩：  </a:t>
            </a:r>
            <a:pPr indent="0" marL="0">
              <a:buNone/>
            </a:pPr>
            <a:r>
              <a:rPr lang="en-US" sz="1250" dirty="0">
                <a:solidFill>
                  <a:srgbClr val="C7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ultrasonic.py → python motor.py → python run.py の順に動かして、自分のミニカーで体験してみよう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2026-08-24T22:16:22Z</dcterms:created>
  <dcterms:modified xsi:type="dcterms:W3CDTF">2026-08-24T22:16:22Z</dcterms:modified>
</cp:coreProperties>
</file>